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3"/>
  </p:notesMasterIdLst>
  <p:sldIdLst>
    <p:sldId id="275" r:id="rId2"/>
    <p:sldId id="288" r:id="rId3"/>
    <p:sldId id="291" r:id="rId4"/>
    <p:sldId id="276" r:id="rId5"/>
    <p:sldId id="278" r:id="rId6"/>
    <p:sldId id="279" r:id="rId7"/>
    <p:sldId id="289" r:id="rId8"/>
    <p:sldId id="280" r:id="rId9"/>
    <p:sldId id="287" r:id="rId10"/>
    <p:sldId id="284" r:id="rId11"/>
    <p:sldId id="267" r:id="rId12"/>
  </p:sldIdLst>
  <p:sldSz cx="9144000" cy="5143500" type="screen16x9"/>
  <p:notesSz cx="6858000" cy="9144000"/>
  <p:defaultText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56"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iit Viit" initials="VV"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3AEFF"/>
    <a:srgbClr val="25A2FF"/>
    <a:srgbClr val="189CDE"/>
    <a:srgbClr val="0996FF"/>
    <a:srgbClr val="0192FF"/>
    <a:srgbClr val="0594FF"/>
    <a:srgbClr val="008FFA"/>
    <a:srgbClr val="008A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28" autoAdjust="0"/>
    <p:restoredTop sz="94660"/>
  </p:normalViewPr>
  <p:slideViewPr>
    <p:cSldViewPr snapToGrid="0" showGuides="1">
      <p:cViewPr varScale="1">
        <p:scale>
          <a:sx n="102" d="100"/>
          <a:sy n="102" d="100"/>
        </p:scale>
        <p:origin x="246" y="48"/>
      </p:cViewPr>
      <p:guideLst>
        <p:guide orient="horz" pos="1656"/>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9981B592-AEF7-4F19-89CE-62E2656F1C5E}" type="datetimeFigureOut">
              <a:rPr lang="en-IN" smtClean="0"/>
              <a:t>02-06-2025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D5559C-9A1D-465C-BD22-C64000BBBB10}"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t>2</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t>3</a:t>
            </a:fld>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t>4</a:t>
            </a:fld>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t>5</a:t>
            </a:fld>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t>6</a:t>
            </a:fld>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t>7</a:t>
            </a:fld>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t>8</a:t>
            </a:fld>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t>9</a:t>
            </a:fld>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t>10</a:t>
            </a:fld>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t>11</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IN"/>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r>
              <a:rPr lang="en-US"/>
              <a:t>Faculty Name(optional), Department of ______Engineering, VIIT,Pune-48</a:t>
            </a:r>
            <a:endParaRPr lang="en-IN"/>
          </a:p>
        </p:txBody>
      </p:sp>
      <p:sp>
        <p:nvSpPr>
          <p:cNvPr id="6" name="Slide Number Placeholder 5"/>
          <p:cNvSpPr>
            <a:spLocks noGrp="1"/>
          </p:cNvSpPr>
          <p:nvPr>
            <p:ph type="sldNum" sz="quarter" idx="12"/>
          </p:nvPr>
        </p:nvSpPr>
        <p:spPr/>
        <p:txBody>
          <a:bodyPr/>
          <a:lstStyle/>
          <a:p>
            <a:fld id="{3FCAF691-C30B-4477-A4FB-AFF7F164B000}"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r>
              <a:rPr lang="en-US"/>
              <a:t>Faculty Name(optional), Department of ______Engineering, VIIT,Pune-48</a:t>
            </a:r>
            <a:endParaRPr lang="en-IN"/>
          </a:p>
        </p:txBody>
      </p:sp>
      <p:sp>
        <p:nvSpPr>
          <p:cNvPr id="6" name="Slide Number Placeholder 5"/>
          <p:cNvSpPr>
            <a:spLocks noGrp="1"/>
          </p:cNvSpPr>
          <p:nvPr>
            <p:ph type="sldNum" sz="quarter" idx="12"/>
          </p:nvPr>
        </p:nvSpPr>
        <p:spPr/>
        <p:txBody>
          <a:bodyPr/>
          <a:lstStyle/>
          <a:p>
            <a:fld id="{3FCAF691-C30B-4477-A4FB-AFF7F164B000}"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IN"/>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40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r>
              <a:rPr lang="en-US"/>
              <a:t>Faculty Name(optional), Department of ______Engineering, VIIT,Pune-48</a:t>
            </a:r>
            <a:endParaRPr lang="en-IN"/>
          </a:p>
        </p:txBody>
      </p:sp>
      <p:sp>
        <p:nvSpPr>
          <p:cNvPr id="6" name="Slide Number Placeholder 5"/>
          <p:cNvSpPr>
            <a:spLocks noGrp="1"/>
          </p:cNvSpPr>
          <p:nvPr>
            <p:ph type="sldNum" sz="quarter" idx="12"/>
          </p:nvPr>
        </p:nvSpPr>
        <p:spPr/>
        <p:txBody>
          <a:bodyPr/>
          <a:lstStyle/>
          <a:p>
            <a:fld id="{3FCAF691-C30B-4477-A4FB-AFF7F164B000}"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r>
              <a:rPr lang="en-US"/>
              <a:t>Faculty Name(optional), Department of ______Engineering, VIIT,Pune-48</a:t>
            </a:r>
            <a:endParaRPr lang="en-IN"/>
          </a:p>
        </p:txBody>
      </p:sp>
      <p:sp>
        <p:nvSpPr>
          <p:cNvPr id="7" name="Slide Number Placeholder 6"/>
          <p:cNvSpPr>
            <a:spLocks noGrp="1"/>
          </p:cNvSpPr>
          <p:nvPr>
            <p:ph type="sldNum" sz="quarter" idx="12"/>
          </p:nvPr>
        </p:nvSpPr>
        <p:spPr/>
        <p:txBody>
          <a:bodyPr/>
          <a:lstStyle/>
          <a:p>
            <a:fld id="{3FCAF691-C30B-4477-A4FB-AFF7F164B000}"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IN"/>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r>
              <a:rPr lang="en-US"/>
              <a:t>Faculty Name(optional), Department of ______Engineering, VIIT,Pune-48</a:t>
            </a:r>
            <a:endParaRPr lang="en-IN"/>
          </a:p>
        </p:txBody>
      </p:sp>
      <p:sp>
        <p:nvSpPr>
          <p:cNvPr id="9" name="Slide Number Placeholder 8"/>
          <p:cNvSpPr>
            <a:spLocks noGrp="1"/>
          </p:cNvSpPr>
          <p:nvPr>
            <p:ph type="sldNum" sz="quarter" idx="12"/>
          </p:nvPr>
        </p:nvSpPr>
        <p:spPr/>
        <p:txBody>
          <a:bodyPr/>
          <a:lstStyle/>
          <a:p>
            <a:fld id="{3FCAF691-C30B-4477-A4FB-AFF7F164B000}"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r>
              <a:rPr lang="en-US"/>
              <a:t>Faculty Name(optional), Department of ______Engineering, VIIT,Pune-48</a:t>
            </a:r>
            <a:endParaRPr lang="en-IN"/>
          </a:p>
        </p:txBody>
      </p:sp>
      <p:sp>
        <p:nvSpPr>
          <p:cNvPr id="5" name="Slide Number Placeholder 4"/>
          <p:cNvSpPr>
            <a:spLocks noGrp="1"/>
          </p:cNvSpPr>
          <p:nvPr>
            <p:ph type="sldNum" sz="quarter" idx="12"/>
          </p:nvPr>
        </p:nvSpPr>
        <p:spPr/>
        <p:txBody>
          <a:bodyPr/>
          <a:lstStyle/>
          <a:p>
            <a:fld id="{3FCAF691-C30B-4477-A4FB-AFF7F164B000}"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r>
              <a:rPr lang="en-US"/>
              <a:t>Faculty Name(optional), Department of ______Engineering, VIIT,Pune-48</a:t>
            </a:r>
            <a:endParaRPr lang="en-IN"/>
          </a:p>
        </p:txBody>
      </p:sp>
      <p:sp>
        <p:nvSpPr>
          <p:cNvPr id="4" name="Slide Number Placeholder 3"/>
          <p:cNvSpPr>
            <a:spLocks noGrp="1"/>
          </p:cNvSpPr>
          <p:nvPr>
            <p:ph type="sldNum" sz="quarter" idx="12"/>
          </p:nvPr>
        </p:nvSpPr>
        <p:spPr/>
        <p:txBody>
          <a:bodyPr/>
          <a:lstStyle/>
          <a:p>
            <a:fld id="{3FCAF691-C30B-4477-A4FB-AFF7F164B000}"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100"/>
            </a:lvl2pPr>
            <a:lvl3pPr marL="685800" indent="0">
              <a:buNone/>
              <a:defRPr sz="900"/>
            </a:lvl3pPr>
            <a:lvl4pPr marL="1028700" indent="0">
              <a:buNone/>
              <a:defRPr sz="800"/>
            </a:lvl4pPr>
            <a:lvl5pPr marL="1371600" indent="0">
              <a:buNone/>
              <a:defRPr sz="800"/>
            </a:lvl5pPr>
            <a:lvl6pPr marL="1714500" indent="0">
              <a:buNone/>
              <a:defRPr sz="800"/>
            </a:lvl6pPr>
            <a:lvl7pPr marL="2057400" indent="0">
              <a:buNone/>
              <a:defRPr sz="800"/>
            </a:lvl7pPr>
            <a:lvl8pPr marL="2400300" indent="0">
              <a:buNone/>
              <a:defRPr sz="800"/>
            </a:lvl8pPr>
            <a:lvl9pPr marL="2743200" indent="0">
              <a:buNone/>
              <a:defRPr sz="8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r>
              <a:rPr lang="en-US"/>
              <a:t>Faculty Name(optional), Department of ______Engineering, VIIT,Pune-48</a:t>
            </a:r>
            <a:endParaRPr lang="en-IN"/>
          </a:p>
        </p:txBody>
      </p:sp>
      <p:sp>
        <p:nvSpPr>
          <p:cNvPr id="7" name="Slide Number Placeholder 6"/>
          <p:cNvSpPr>
            <a:spLocks noGrp="1"/>
          </p:cNvSpPr>
          <p:nvPr>
            <p:ph type="sldNum" sz="quarter" idx="12"/>
          </p:nvPr>
        </p:nvSpPr>
        <p:spPr/>
        <p:txBody>
          <a:bodyPr/>
          <a:lstStyle/>
          <a:p>
            <a:fld id="{3FCAF691-C30B-4477-A4FB-AFF7F164B000}"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Picture Placeholder 2"/>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100"/>
            </a:lvl2pPr>
            <a:lvl3pPr marL="685800" indent="0">
              <a:buNone/>
              <a:defRPr sz="900"/>
            </a:lvl3pPr>
            <a:lvl4pPr marL="1028700" indent="0">
              <a:buNone/>
              <a:defRPr sz="800"/>
            </a:lvl4pPr>
            <a:lvl5pPr marL="1371600" indent="0">
              <a:buNone/>
              <a:defRPr sz="800"/>
            </a:lvl5pPr>
            <a:lvl6pPr marL="1714500" indent="0">
              <a:buNone/>
              <a:defRPr sz="800"/>
            </a:lvl6pPr>
            <a:lvl7pPr marL="2057400" indent="0">
              <a:buNone/>
              <a:defRPr sz="800"/>
            </a:lvl7pPr>
            <a:lvl8pPr marL="2400300" indent="0">
              <a:buNone/>
              <a:defRPr sz="800"/>
            </a:lvl8pPr>
            <a:lvl9pPr marL="2743200" indent="0">
              <a:buNone/>
              <a:defRPr sz="8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r>
              <a:rPr lang="en-US"/>
              <a:t>Faculty Name(optional), Department of ______Engineering, VIIT,Pune-48</a:t>
            </a:r>
            <a:endParaRPr lang="en-IN"/>
          </a:p>
        </p:txBody>
      </p:sp>
      <p:sp>
        <p:nvSpPr>
          <p:cNvPr id="7" name="Slide Number Placeholder 6"/>
          <p:cNvSpPr>
            <a:spLocks noGrp="1"/>
          </p:cNvSpPr>
          <p:nvPr>
            <p:ph type="sldNum" sz="quarter" idx="12"/>
          </p:nvPr>
        </p:nvSpPr>
        <p:spPr/>
        <p:txBody>
          <a:bodyPr/>
          <a:lstStyle/>
          <a:p>
            <a:fld id="{3FCAF691-C30B-4477-A4FB-AFF7F164B000}"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r>
              <a:rPr lang="en-US"/>
              <a:t>Faculty Name(optional), Department of ______Engineering, VIIT,Pune-48</a:t>
            </a:r>
            <a:endParaRPr lang="en-IN"/>
          </a:p>
        </p:txBody>
      </p:sp>
      <p:sp>
        <p:nvSpPr>
          <p:cNvPr id="6" name="Slide Number Placeholder 5"/>
          <p:cNvSpPr>
            <a:spLocks noGrp="1"/>
          </p:cNvSpPr>
          <p:nvPr>
            <p:ph type="sldNum" sz="quarter" idx="12"/>
          </p:nvPr>
        </p:nvSpPr>
        <p:spPr/>
        <p:txBody>
          <a:bodyPr/>
          <a:lstStyle/>
          <a:p>
            <a:fld id="{3FCAF691-C30B-4477-A4FB-AFF7F164B000}"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r>
              <a:rPr lang="en-US"/>
              <a:t>Faculty Name(optional), Department of ______Engineering, VIIT,Pune-48</a:t>
            </a:r>
            <a:endParaRPr lang="en-IN"/>
          </a:p>
        </p:txBody>
      </p:sp>
      <p:sp>
        <p:nvSpPr>
          <p:cNvPr id="6" name="Slide Number Placeholder 5"/>
          <p:cNvSpPr>
            <a:spLocks noGrp="1"/>
          </p:cNvSpPr>
          <p:nvPr>
            <p:ph type="sldNum" sz="quarter" idx="12"/>
          </p:nvPr>
        </p:nvSpPr>
        <p:spPr/>
        <p:txBody>
          <a:bodyPr/>
          <a:lstStyle/>
          <a:p>
            <a:fld id="{3FCAF691-C30B-4477-A4FB-AFF7F164B000}"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alpha val="72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68580" tIns="34290" rIns="68580" bIns="3429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628650" y="1369219"/>
            <a:ext cx="7886700" cy="3263504"/>
          </a:xfrm>
          <a:prstGeom prst="rect">
            <a:avLst/>
          </a:prstGeom>
        </p:spPr>
        <p:txBody>
          <a:bodyPr vert="horz" lIns="68580" tIns="34290" rIns="68580" bIns="3429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628650" y="4767263"/>
            <a:ext cx="2057400" cy="273844"/>
          </a:xfrm>
          <a:prstGeom prst="rect">
            <a:avLst/>
          </a:prstGeom>
        </p:spPr>
        <p:txBody>
          <a:bodyPr vert="horz" lIns="68580" tIns="34290" rIns="68580" bIns="34290" rtlCol="0" anchor="ctr"/>
          <a:lstStyle>
            <a:lvl1pPr algn="l">
              <a:defRPr sz="900">
                <a:solidFill>
                  <a:schemeClr val="tx1">
                    <a:tint val="75000"/>
                  </a:schemeClr>
                </a:solidFill>
              </a:defRPr>
            </a:lvl1pPr>
          </a:lstStyle>
          <a:p>
            <a:endParaRPr lang="en-IN"/>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68580" tIns="34290" rIns="68580" bIns="34290" rtlCol="0" anchor="ctr"/>
          <a:lstStyle>
            <a:lvl1pPr algn="ctr">
              <a:defRPr sz="900">
                <a:solidFill>
                  <a:schemeClr val="tx1">
                    <a:tint val="75000"/>
                  </a:schemeClr>
                </a:solidFill>
              </a:defRPr>
            </a:lvl1pPr>
          </a:lstStyle>
          <a:p>
            <a:r>
              <a:rPr lang="en-US"/>
              <a:t>Faculty Name(optional), Department of ______Engineering, VIIT,Pune-48</a:t>
            </a:r>
            <a:endParaRPr lang="en-IN"/>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68580" tIns="34290" rIns="68580" bIns="34290" rtlCol="0" anchor="ctr"/>
          <a:lstStyle>
            <a:lvl1pPr algn="r">
              <a:defRPr sz="900">
                <a:solidFill>
                  <a:schemeClr val="tx1">
                    <a:tint val="75000"/>
                  </a:schemeClr>
                </a:solidFill>
              </a:defRPr>
            </a:lvl1pPr>
          </a:lstStyle>
          <a:p>
            <a:fld id="{3FCAF691-C30B-4477-A4FB-AFF7F164B000}"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90204" pitchFamily="34" charset="0"/>
        <a:buChar char="•"/>
        <a:defRPr sz="14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90204" pitchFamily="34" charset="0"/>
        <a:buChar char="•"/>
        <a:defRPr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4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4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4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400" kern="1200">
          <a:solidFill>
            <a:schemeClr val="tx1"/>
          </a:solidFill>
          <a:latin typeface="+mn-lt"/>
          <a:ea typeface="+mn-ea"/>
          <a:cs typeface="+mn-cs"/>
        </a:defRPr>
      </a:lvl9pPr>
    </p:bodyStyle>
    <p:other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3595" y="67945"/>
            <a:ext cx="7517130" cy="1057275"/>
          </a:xfrm>
        </p:spPr>
        <p:txBody>
          <a:bodyPr>
            <a:normAutofit fontScale="90000"/>
          </a:bodyPr>
          <a:lstStyle/>
          <a:p>
            <a:pPr>
              <a:lnSpc>
                <a:spcPct val="100000"/>
              </a:lnSpc>
            </a:pPr>
            <a:r>
              <a:rPr lang="en-IN" sz="2700" b="1" dirty="0">
                <a:latin typeface="Times New Roman" panose="02020503050405090304" charset="0"/>
                <a:cs typeface="Times New Roman" panose="02020503050405090304" charset="0"/>
              </a:rPr>
              <a:t>General Proficiency - 2</a:t>
            </a:r>
            <a:br>
              <a:rPr lang="en-IN" sz="2700" dirty="0">
                <a:latin typeface="Times New Roman" panose="02020503050405090304" charset="0"/>
                <a:cs typeface="Times New Roman" panose="02020503050405090304" charset="0"/>
              </a:rPr>
            </a:br>
            <a:r>
              <a:rPr lang="en-IN" sz="1800" dirty="0">
                <a:latin typeface="Times New Roman" panose="02020503050405090304" charset="0"/>
                <a:cs typeface="Times New Roman" panose="02020503050405090304" charset="0"/>
              </a:rPr>
              <a:t>Course Code: HS1080</a:t>
            </a:r>
            <a:r>
              <a:rPr lang="en-IN" sz="2700" dirty="0">
                <a:latin typeface="Times New Roman" panose="02020503050405090304" charset="0"/>
                <a:cs typeface="Times New Roman" panose="02020503050405090304" charset="0"/>
              </a:rPr>
              <a:t> </a:t>
            </a:r>
            <a:br>
              <a:rPr lang="en-IN" sz="2700" dirty="0">
                <a:latin typeface="Times New Roman" panose="02020503050405090304" charset="0"/>
                <a:cs typeface="Times New Roman" panose="02020503050405090304" charset="0"/>
              </a:rPr>
            </a:br>
            <a:r>
              <a:rPr lang="en-IN" sz="1800" b="1" dirty="0">
                <a:latin typeface="Times New Roman" panose="02020503050405090304" charset="0"/>
                <a:cs typeface="Times New Roman" panose="02020503050405090304" charset="0"/>
              </a:rPr>
              <a:t>End Semester Review </a:t>
            </a:r>
            <a:endParaRPr lang="en-IN" sz="2700" b="1" dirty="0">
              <a:latin typeface="Times New Roman" panose="02020503050405090304" charset="0"/>
              <a:cs typeface="Times New Roman" panose="02020503050405090304" charset="0"/>
            </a:endParaRPr>
          </a:p>
        </p:txBody>
      </p:sp>
      <p:sp>
        <p:nvSpPr>
          <p:cNvPr id="3" name="Subtitle 2"/>
          <p:cNvSpPr>
            <a:spLocks noGrp="1"/>
          </p:cNvSpPr>
          <p:nvPr>
            <p:ph type="subTitle" idx="1"/>
          </p:nvPr>
        </p:nvSpPr>
        <p:spPr>
          <a:xfrm>
            <a:off x="974725" y="1327785"/>
            <a:ext cx="7214235" cy="1508760"/>
          </a:xfrm>
        </p:spPr>
        <p:txBody>
          <a:bodyPr>
            <a:noAutofit/>
          </a:bodyPr>
          <a:lstStyle/>
          <a:p>
            <a:pPr>
              <a:lnSpc>
                <a:spcPct val="100000"/>
              </a:lnSpc>
              <a:spcBef>
                <a:spcPts val="0"/>
              </a:spcBef>
            </a:pPr>
            <a:r>
              <a:rPr lang="en-US" altLang="en-IN" dirty="0">
                <a:solidFill>
                  <a:schemeClr val="accent1"/>
                </a:solidFill>
                <a:latin typeface="Times New Roman" panose="02020503050405090304" charset="0"/>
                <a:cs typeface="Times New Roman" panose="02020503050405090304" charset="0"/>
              </a:rPr>
              <a:t>Name: </a:t>
            </a:r>
            <a:r>
              <a:rPr lang="en-IN" dirty="0">
                <a:solidFill>
                  <a:schemeClr val="tx1"/>
                </a:solidFill>
                <a:latin typeface="Times New Roman" panose="02020503050405090304" charset="0"/>
                <a:cs typeface="Times New Roman" panose="02020503050405090304" charset="0"/>
              </a:rPr>
              <a:t>A</a:t>
            </a:r>
            <a:r>
              <a:rPr lang="en-US" altLang="en-IN" dirty="0">
                <a:solidFill>
                  <a:schemeClr val="tx1"/>
                </a:solidFill>
                <a:latin typeface="Times New Roman" panose="02020503050405090304" charset="0"/>
                <a:cs typeface="Times New Roman" panose="02020503050405090304" charset="0"/>
              </a:rPr>
              <a:t>yush Pathak</a:t>
            </a:r>
            <a:endParaRPr lang="en-IN" dirty="0">
              <a:solidFill>
                <a:schemeClr val="tx1"/>
              </a:solidFill>
              <a:latin typeface="Times New Roman" panose="02020503050405090304" charset="0"/>
              <a:cs typeface="Times New Roman" panose="02020503050405090304" charset="0"/>
            </a:endParaRPr>
          </a:p>
          <a:p>
            <a:pPr>
              <a:lnSpc>
                <a:spcPct val="100000"/>
              </a:lnSpc>
              <a:spcBef>
                <a:spcPts val="0"/>
              </a:spcBef>
            </a:pPr>
            <a:r>
              <a:rPr lang="en-US" dirty="0">
                <a:solidFill>
                  <a:schemeClr val="accent1"/>
                </a:solidFill>
                <a:latin typeface="Times New Roman" panose="02020503050405090304" charset="0"/>
                <a:cs typeface="Times New Roman" panose="02020503050405090304" charset="0"/>
              </a:rPr>
              <a:t>Class:</a:t>
            </a:r>
            <a:r>
              <a:rPr lang="en-US" dirty="0">
                <a:solidFill>
                  <a:schemeClr val="tx1"/>
                </a:solidFill>
                <a:latin typeface="Times New Roman" panose="02020503050405090304" charset="0"/>
                <a:cs typeface="Times New Roman" panose="02020503050405090304" charset="0"/>
              </a:rPr>
              <a:t> CSAIML-A</a:t>
            </a:r>
          </a:p>
          <a:p>
            <a:pPr>
              <a:lnSpc>
                <a:spcPct val="100000"/>
              </a:lnSpc>
              <a:spcBef>
                <a:spcPts val="0"/>
              </a:spcBef>
            </a:pPr>
            <a:r>
              <a:rPr lang="en-US" dirty="0">
                <a:solidFill>
                  <a:schemeClr val="accent1"/>
                </a:solidFill>
                <a:latin typeface="Times New Roman" panose="02020503050405090304" charset="0"/>
                <a:cs typeface="Times New Roman" panose="02020503050405090304" charset="0"/>
              </a:rPr>
              <a:t>PRN: </a:t>
            </a:r>
            <a:r>
              <a:rPr lang="en-US" dirty="0">
                <a:solidFill>
                  <a:schemeClr val="tx1"/>
                </a:solidFill>
                <a:latin typeface="Times New Roman" panose="02020503050405090304" charset="0"/>
                <a:cs typeface="Times New Roman" panose="02020503050405090304" charset="0"/>
              </a:rPr>
              <a:t>12414369</a:t>
            </a:r>
            <a:endParaRPr lang="en-US" dirty="0" err="1">
              <a:solidFill>
                <a:schemeClr val="tx1"/>
              </a:solidFill>
              <a:latin typeface="Times New Roman" panose="02020503050405090304" charset="0"/>
              <a:cs typeface="Times New Roman" panose="02020503050405090304" charset="0"/>
            </a:endParaRPr>
          </a:p>
          <a:p>
            <a:pPr>
              <a:lnSpc>
                <a:spcPct val="100000"/>
              </a:lnSpc>
              <a:spcBef>
                <a:spcPts val="0"/>
              </a:spcBef>
            </a:pPr>
            <a:r>
              <a:rPr lang="en-US" dirty="0">
                <a:solidFill>
                  <a:schemeClr val="tx1"/>
                </a:solidFill>
                <a:latin typeface="Times New Roman" panose="02020503050405090304" charset="0"/>
                <a:cs typeface="Times New Roman" panose="02020503050405090304" charset="0"/>
              </a:rPr>
              <a:t> </a:t>
            </a:r>
            <a:r>
              <a:rPr lang="en-US" dirty="0">
                <a:solidFill>
                  <a:schemeClr val="accent1"/>
                </a:solidFill>
                <a:latin typeface="Times New Roman" panose="02020503050405090304" charset="0"/>
                <a:cs typeface="Times New Roman" panose="02020503050405090304" charset="0"/>
              </a:rPr>
              <a:t>Roll No:</a:t>
            </a:r>
            <a:r>
              <a:rPr lang="en-US" dirty="0">
                <a:solidFill>
                  <a:schemeClr val="tx1"/>
                </a:solidFill>
                <a:latin typeface="Times New Roman" panose="02020503050405090304" charset="0"/>
                <a:cs typeface="Times New Roman" panose="02020503050405090304" charset="0"/>
              </a:rPr>
              <a:t> 33</a:t>
            </a:r>
            <a:endParaRPr lang="en-IN" dirty="0">
              <a:solidFill>
                <a:schemeClr val="tx1"/>
              </a:solidFill>
              <a:latin typeface="Times New Roman" panose="02020503050405090304" charset="0"/>
              <a:cs typeface="Times New Roman" panose="02020503050405090304" charset="0"/>
            </a:endParaRPr>
          </a:p>
          <a:p>
            <a:pPr>
              <a:lnSpc>
                <a:spcPct val="100000"/>
              </a:lnSpc>
              <a:spcBef>
                <a:spcPts val="0"/>
              </a:spcBef>
            </a:pPr>
            <a:endParaRPr lang="en-IN" sz="2000" b="1" dirty="0">
              <a:solidFill>
                <a:schemeClr val="tx1"/>
              </a:solidFill>
              <a:latin typeface="Times New Roman" panose="02020503050405090304" charset="0"/>
              <a:cs typeface="Times New Roman" panose="02020503050405090304" charset="0"/>
            </a:endParaRPr>
          </a:p>
        </p:txBody>
      </p:sp>
      <p:sp>
        <p:nvSpPr>
          <p:cNvPr id="5" name="Subtitle 2"/>
          <p:cNvSpPr txBox="1"/>
          <p:nvPr/>
        </p:nvSpPr>
        <p:spPr>
          <a:xfrm>
            <a:off x="249210" y="4021068"/>
            <a:ext cx="8645581" cy="420461"/>
          </a:xfrm>
          <a:prstGeom prst="rect">
            <a:avLst/>
          </a:prstGeom>
          <a:solidFill>
            <a:srgbClr val="25A2FF"/>
          </a:solidFill>
          <a:ln>
            <a:noFill/>
          </a:ln>
        </p:spPr>
        <p:style>
          <a:lnRef idx="1">
            <a:schemeClr val="accent1"/>
          </a:lnRef>
          <a:fillRef idx="3">
            <a:schemeClr val="accent1"/>
          </a:fillRef>
          <a:effectRef idx="2">
            <a:schemeClr val="accent1"/>
          </a:effectRef>
          <a:fontRef idx="minor">
            <a:schemeClr val="lt1"/>
          </a:fontRef>
        </p:style>
        <p:txBody>
          <a:bodyPr vert="horz" lIns="68580" tIns="34290" rIns="68580" bIns="34290" rtlCol="0">
            <a:noAutofit/>
          </a:bodyPr>
          <a:lstStyle>
            <a:lvl1pPr marL="0" indent="0" algn="ctr" defTabSz="685800" rtl="0" eaLnBrk="1" latinLnBrk="0" hangingPunct="1">
              <a:lnSpc>
                <a:spcPct val="90000"/>
              </a:lnSpc>
              <a:spcBef>
                <a:spcPts val="750"/>
              </a:spcBef>
              <a:buFont typeface="Arial" panose="020B060402020209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9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90204" pitchFamily="34" charset="0"/>
              <a:buNone/>
              <a:defRPr sz="140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9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9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9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9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9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90204" pitchFamily="34" charset="0"/>
              <a:buNone/>
              <a:defRPr sz="1200" kern="1200">
                <a:solidFill>
                  <a:schemeClr val="tx1"/>
                </a:solidFill>
                <a:latin typeface="+mn-lt"/>
                <a:ea typeface="+mn-ea"/>
                <a:cs typeface="+mn-cs"/>
              </a:defRPr>
            </a:lvl9pPr>
          </a:lstStyle>
          <a:p>
            <a:r>
              <a:rPr lang="en-IN" sz="2000" b="1" dirty="0">
                <a:solidFill>
                  <a:schemeClr val="bg1"/>
                </a:solidFill>
                <a:latin typeface="Arial" panose="020B0604020202090204" pitchFamily="34" charset="0"/>
                <a:cs typeface="Arial" panose="020B0604020202090204" pitchFamily="34" charset="0"/>
              </a:rPr>
              <a:t>BRACT’S, Vishwakarma Institute of Technology, Pune-37</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25595" y="2746375"/>
            <a:ext cx="1127760" cy="1275080"/>
          </a:xfrm>
          <a:prstGeom prst="rect">
            <a:avLst/>
          </a:prstGeom>
        </p:spPr>
      </p:pic>
      <p:sp>
        <p:nvSpPr>
          <p:cNvPr id="6" name="Rectangle 5"/>
          <p:cNvSpPr/>
          <p:nvPr/>
        </p:nvSpPr>
        <p:spPr>
          <a:xfrm>
            <a:off x="407052" y="4427922"/>
            <a:ext cx="8349342" cy="523220"/>
          </a:xfrm>
          <a:prstGeom prst="rect">
            <a:avLst/>
          </a:prstGeom>
        </p:spPr>
        <p:txBody>
          <a:bodyPr wrap="square">
            <a:spAutoFit/>
          </a:bodyPr>
          <a:lstStyle/>
          <a:p>
            <a:pPr algn="ctr"/>
            <a:r>
              <a:rPr lang="en-IN" b="1" dirty="0">
                <a:solidFill>
                  <a:schemeClr val="tx1">
                    <a:lumMod val="50000"/>
                    <a:lumOff val="50000"/>
                  </a:schemeClr>
                </a:solidFill>
                <a:latin typeface="Arial" panose="020B0604020202090204" pitchFamily="34" charset="0"/>
                <a:cs typeface="Arial" panose="020B0604020202090204" pitchFamily="34" charset="0"/>
              </a:rPr>
              <a:t>(An Autonomous Institute affiliated to Savitribai Phule Pune University)</a:t>
            </a:r>
          </a:p>
          <a:p>
            <a:pPr algn="ctr"/>
            <a:r>
              <a:rPr lang="en-IN" b="1" dirty="0">
                <a:solidFill>
                  <a:schemeClr val="tx1">
                    <a:lumMod val="50000"/>
                    <a:lumOff val="50000"/>
                  </a:schemeClr>
                </a:solidFill>
                <a:latin typeface="Arial" panose="020B0604020202090204" pitchFamily="34" charset="0"/>
                <a:cs typeface="Arial" panose="020B0604020202090204" pitchFamily="34" charset="0"/>
              </a:rPr>
              <a:t>(NBA and NAAC accredited, ISO 9001:2015 certified) </a:t>
            </a:r>
          </a:p>
        </p:txBody>
      </p:sp>
      <p:pic>
        <p:nvPicPr>
          <p:cNvPr id="7" name="Picture 6" descr="Photo"/>
          <p:cNvPicPr>
            <a:picLocks noChangeAspect="1"/>
          </p:cNvPicPr>
          <p:nvPr/>
        </p:nvPicPr>
        <p:blipFill>
          <a:blip r:embed="rId3"/>
          <a:stretch>
            <a:fillRect/>
          </a:stretch>
        </p:blipFill>
        <p:spPr>
          <a:xfrm>
            <a:off x="7423150" y="132080"/>
            <a:ext cx="1553845" cy="199771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0"/>
            <a:ext cx="7886700" cy="728004"/>
          </a:xfrm>
        </p:spPr>
        <p:txBody>
          <a:bodyPr>
            <a:normAutofit/>
          </a:bodyPr>
          <a:lstStyle/>
          <a:p>
            <a:pPr algn="ctr"/>
            <a:r>
              <a:rPr lang="en-US" sz="2500" b="1" dirty="0">
                <a:solidFill>
                  <a:srgbClr val="FF0000"/>
                </a:solidFill>
                <a:latin typeface="Times New Roman" panose="02020503050405090304" charset="0"/>
                <a:cs typeface="Times New Roman" panose="02020503050405090304" charset="0"/>
              </a:rPr>
              <a:t>Exercise 4: Time management </a:t>
            </a:r>
            <a:endParaRPr lang="en-IN" sz="2500" b="1" dirty="0">
              <a:solidFill>
                <a:srgbClr val="FF0000"/>
              </a:solidFill>
              <a:latin typeface="Times New Roman" panose="02020503050405090304" charset="0"/>
              <a:cs typeface="Times New Roman" panose="02020503050405090304" charset="0"/>
            </a:endParaRP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6" name="Rectangle 3"/>
          <p:cNvSpPr>
            <a:spLocks noGrp="1" noChangeArrowheads="1"/>
          </p:cNvSpPr>
          <p:nvPr>
            <p:ph idx="1"/>
          </p:nvPr>
        </p:nvSpPr>
        <p:spPr bwMode="auto">
          <a:xfrm>
            <a:off x="652871" y="1170734"/>
            <a:ext cx="8270694" cy="298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None/>
            </a:pPr>
            <a:r>
              <a:rPr kumimoji="0" lang="en-US" altLang="en-US" sz="1800" b="1" i="0" u="sng" strike="noStrike" cap="none" normalizeH="0" baseline="0" dirty="0">
                <a:ln>
                  <a:noFill/>
                </a:ln>
                <a:solidFill>
                  <a:srgbClr val="FF0000"/>
                </a:solidFill>
                <a:effectLst/>
                <a:latin typeface="Times New Roman" panose="02020503050405090304" charset="0"/>
                <a:cs typeface="Times New Roman" panose="02020503050405090304" charset="0"/>
              </a:rPr>
              <a:t>Professional Learnings:</a:t>
            </a:r>
          </a:p>
          <a:p>
            <a:pPr marL="0" marR="0" lvl="0" indent="0" algn="l" defTabSz="914400" rtl="0" eaLnBrk="0" fontAlgn="base" latinLnBrk="0" hangingPunct="0">
              <a:lnSpc>
                <a:spcPct val="100000"/>
              </a:lnSpc>
              <a:spcBef>
                <a:spcPct val="0"/>
              </a:spcBef>
              <a:spcAft>
                <a:spcPct val="0"/>
              </a:spcAft>
              <a:buClrTx/>
              <a:buSzTx/>
              <a:buNone/>
            </a:pPr>
            <a:endParaRPr kumimoji="0" lang="en-US" altLang="en-US" sz="1600" b="1" i="0" u="none" strike="noStrike" cap="none" normalizeH="0" baseline="0" dirty="0">
              <a:ln>
                <a:noFill/>
              </a:ln>
              <a:solidFill>
                <a:srgbClr val="FF0000"/>
              </a:solidFill>
              <a:effectLst/>
              <a:latin typeface="Times New Roman" panose="02020503050405090304" charset="0"/>
              <a:cs typeface="Times New Roman" panose="02020503050405090304" charset="0"/>
            </a:endParaRPr>
          </a:p>
          <a:p>
            <a:pPr marR="0" lvl="0" algn="l" defTabSz="914400" rtl="0" eaLnBrk="0" fontAlgn="base" latinLnBrk="0" hangingPunct="0">
              <a:lnSpc>
                <a:spcPct val="100000"/>
              </a:lnSpc>
              <a:spcBef>
                <a:spcPct val="0"/>
              </a:spcBef>
              <a:spcAft>
                <a:spcPct val="0"/>
              </a:spcAft>
              <a:buClrTx/>
              <a:buSzTx/>
            </a:pPr>
            <a:r>
              <a:rPr kumimoji="0" lang="en-US" altLang="en-US" sz="1400" b="1" i="0" u="none" strike="noStrike" cap="none" normalizeH="0" baseline="0" dirty="0">
                <a:ln>
                  <a:noFill/>
                </a:ln>
                <a:solidFill>
                  <a:schemeClr val="tx1"/>
                </a:solidFill>
                <a:effectLst/>
                <a:latin typeface="Times New Roman" panose="02020503050405090304" charset="0"/>
                <a:cs typeface="Times New Roman" panose="02020503050405090304" charset="0"/>
              </a:rPr>
              <a:t>Punctuality is Non-Negotiable:</a:t>
            </a:r>
          </a:p>
          <a:p>
            <a:pPr marL="0" marR="0" lvl="0" indent="0" algn="l" defTabSz="914400" rtl="0" eaLnBrk="0" fontAlgn="base" latinLnBrk="0" hangingPunct="0">
              <a:lnSpc>
                <a:spcPct val="100000"/>
              </a:lnSpc>
              <a:spcBef>
                <a:spcPct val="0"/>
              </a:spcBef>
              <a:spcAft>
                <a:spcPct val="0"/>
              </a:spcAft>
              <a:buClrTx/>
              <a:buSzTx/>
              <a:buNone/>
            </a:pPr>
            <a:r>
              <a:rPr kumimoji="0" lang="en-US" altLang="en-US" sz="1400" b="0" i="0" u="none" strike="noStrike" cap="none" normalizeH="0" baseline="0" dirty="0">
                <a:ln>
                  <a:noFill/>
                </a:ln>
                <a:solidFill>
                  <a:schemeClr val="tx1"/>
                </a:solidFill>
                <a:effectLst/>
                <a:latin typeface="Times New Roman" panose="02020503050405090304" charset="0"/>
                <a:cs typeface="Times New Roman" panose="02020503050405090304" charset="0"/>
              </a:rPr>
              <a:t>One of the most important professional insights I gained is how essential it is to respect time—mine and others’. Deadlines, meetings, and punctual submissions reflect professionalism.</a:t>
            </a:r>
          </a:p>
          <a:p>
            <a:pPr marR="0" lvl="0" algn="l" defTabSz="914400" rtl="0" eaLnBrk="0" fontAlgn="base" latinLnBrk="0" hangingPunct="0">
              <a:lnSpc>
                <a:spcPct val="100000"/>
              </a:lnSpc>
              <a:spcBef>
                <a:spcPct val="0"/>
              </a:spcBef>
              <a:spcAft>
                <a:spcPct val="0"/>
              </a:spcAft>
              <a:buClrTx/>
              <a:buSzTx/>
            </a:pPr>
            <a:endParaRPr kumimoji="0" lang="en-US" altLang="en-US" sz="1400" b="0" i="0" u="none" strike="noStrike" cap="none" normalizeH="0" baseline="0" dirty="0">
              <a:ln>
                <a:noFill/>
              </a:ln>
              <a:solidFill>
                <a:schemeClr val="tx1"/>
              </a:solidFill>
              <a:effectLst/>
              <a:latin typeface="Times New Roman" panose="02020503050405090304" charset="0"/>
              <a:cs typeface="Times New Roman" panose="02020503050405090304" charset="0"/>
            </a:endParaRPr>
          </a:p>
          <a:p>
            <a:pPr marR="0" lvl="0" algn="l" defTabSz="914400" rtl="0" eaLnBrk="0" fontAlgn="base" latinLnBrk="0" hangingPunct="0">
              <a:lnSpc>
                <a:spcPct val="100000"/>
              </a:lnSpc>
              <a:spcBef>
                <a:spcPct val="0"/>
              </a:spcBef>
              <a:spcAft>
                <a:spcPct val="0"/>
              </a:spcAft>
              <a:buClrTx/>
              <a:buSzTx/>
            </a:pPr>
            <a:r>
              <a:rPr kumimoji="0" lang="en-US" altLang="en-US" sz="1400" b="1" i="0" u="none" strike="noStrike" cap="none" normalizeH="0" baseline="0" dirty="0">
                <a:ln>
                  <a:noFill/>
                </a:ln>
                <a:solidFill>
                  <a:schemeClr val="tx1"/>
                </a:solidFill>
                <a:effectLst/>
                <a:latin typeface="Times New Roman" panose="02020503050405090304" charset="0"/>
                <a:cs typeface="Times New Roman" panose="02020503050405090304" charset="0"/>
              </a:rPr>
              <a:t>Time is a Limited Resource:</a:t>
            </a:r>
          </a:p>
          <a:p>
            <a:pPr marL="0" marR="0" lvl="0" indent="0" algn="l" defTabSz="914400" rtl="0" eaLnBrk="0" fontAlgn="base" latinLnBrk="0" hangingPunct="0">
              <a:lnSpc>
                <a:spcPct val="100000"/>
              </a:lnSpc>
              <a:spcBef>
                <a:spcPct val="0"/>
              </a:spcBef>
              <a:spcAft>
                <a:spcPct val="0"/>
              </a:spcAft>
              <a:buClrTx/>
              <a:buSzTx/>
              <a:buNone/>
            </a:pPr>
            <a:r>
              <a:rPr kumimoji="0" lang="en-US" altLang="en-US" sz="1400" b="0" i="0" u="none" strike="noStrike" cap="none" normalizeH="0" baseline="0" dirty="0">
                <a:ln>
                  <a:noFill/>
                </a:ln>
                <a:solidFill>
                  <a:schemeClr val="tx1"/>
                </a:solidFill>
                <a:effectLst/>
                <a:latin typeface="Times New Roman" panose="02020503050405090304" charset="0"/>
                <a:cs typeface="Times New Roman" panose="02020503050405090304" charset="0"/>
              </a:rPr>
              <a:t>In a work environment, time equals money and opportunity. Wasting time or failing to manage it properly could mean losing chances to grow, network, or perform well.</a:t>
            </a:r>
          </a:p>
          <a:p>
            <a:pPr marR="0" lvl="0" algn="l" defTabSz="914400" rtl="0" eaLnBrk="0" fontAlgn="base" latinLnBrk="0" hangingPunct="0">
              <a:lnSpc>
                <a:spcPct val="100000"/>
              </a:lnSpc>
              <a:spcBef>
                <a:spcPct val="0"/>
              </a:spcBef>
              <a:spcAft>
                <a:spcPct val="0"/>
              </a:spcAft>
              <a:buClrTx/>
              <a:buSzTx/>
            </a:pPr>
            <a:endParaRPr kumimoji="0" lang="en-US" altLang="en-US" sz="1400" b="0" i="0" u="none" strike="noStrike" cap="none" normalizeH="0" baseline="0" dirty="0">
              <a:ln>
                <a:noFill/>
              </a:ln>
              <a:solidFill>
                <a:schemeClr val="tx1"/>
              </a:solidFill>
              <a:effectLst/>
              <a:latin typeface="Times New Roman" panose="02020503050405090304" charset="0"/>
              <a:cs typeface="Times New Roman" panose="02020503050405090304" charset="0"/>
            </a:endParaRPr>
          </a:p>
          <a:p>
            <a:pPr marR="0" lvl="0" algn="l" defTabSz="914400" rtl="0" eaLnBrk="0" fontAlgn="base" latinLnBrk="0" hangingPunct="0">
              <a:lnSpc>
                <a:spcPct val="100000"/>
              </a:lnSpc>
              <a:spcBef>
                <a:spcPct val="0"/>
              </a:spcBef>
              <a:spcAft>
                <a:spcPct val="0"/>
              </a:spcAft>
              <a:buClrTx/>
              <a:buSzTx/>
            </a:pPr>
            <a:r>
              <a:rPr kumimoji="0" lang="en-US" altLang="en-US" sz="1400" b="1" i="0" u="none" strike="noStrike" cap="none" normalizeH="0" baseline="0" dirty="0">
                <a:ln>
                  <a:noFill/>
                </a:ln>
                <a:solidFill>
                  <a:schemeClr val="tx1"/>
                </a:solidFill>
                <a:effectLst/>
                <a:latin typeface="Times New Roman" panose="02020503050405090304" charset="0"/>
                <a:cs typeface="Times New Roman" panose="02020503050405090304" charset="0"/>
              </a:rPr>
              <a:t>Planning Leads to Productivity:</a:t>
            </a:r>
          </a:p>
          <a:p>
            <a:pPr marL="0" marR="0" lvl="0" indent="0" algn="l" defTabSz="914400" rtl="0" eaLnBrk="0" fontAlgn="base" latinLnBrk="0" hangingPunct="0">
              <a:lnSpc>
                <a:spcPct val="100000"/>
              </a:lnSpc>
              <a:spcBef>
                <a:spcPct val="0"/>
              </a:spcBef>
              <a:spcAft>
                <a:spcPct val="0"/>
              </a:spcAft>
              <a:buClrTx/>
              <a:buSzTx/>
              <a:buNone/>
            </a:pPr>
            <a:r>
              <a:rPr kumimoji="0" lang="en-US" altLang="en-US" sz="1400" b="0" i="0" u="none" strike="noStrike" cap="none" normalizeH="0" baseline="0" dirty="0">
                <a:ln>
                  <a:noFill/>
                </a:ln>
                <a:solidFill>
                  <a:schemeClr val="tx1"/>
                </a:solidFill>
                <a:effectLst/>
                <a:latin typeface="Times New Roman" panose="02020503050405090304" charset="0"/>
                <a:cs typeface="Times New Roman" panose="02020503050405090304" charset="0"/>
              </a:rPr>
              <a:t>Learning how to break big tasks into smaller ones and schedule them throughout the week is a skill that will help me tremendously in any job or project-based environment.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0"/>
            <a:ext cx="7886700" cy="728004"/>
          </a:xfrm>
        </p:spPr>
        <p:txBody>
          <a:bodyPr>
            <a:normAutofit/>
          </a:bodyPr>
          <a:lstStyle/>
          <a:p>
            <a:pPr algn="ctr"/>
            <a:r>
              <a:rPr lang="en-US" sz="2500" b="1" dirty="0">
                <a:latin typeface="Times New Roman" panose="02020503050405090304" charset="0"/>
                <a:cs typeface="Times New Roman" panose="02020503050405090304" charset="0"/>
                <a:sym typeface="+mn-ea"/>
              </a:rPr>
              <a:t>Exercise 4: Time management </a:t>
            </a:r>
            <a:endParaRPr lang="en-IN" sz="2500" b="1"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3" name="Slide Number Placeholder 4"/>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3</a:t>
            </a:fld>
            <a:endParaRPr lang="en-IN" sz="1200" b="1" dirty="0">
              <a:solidFill>
                <a:schemeClr val="tx1"/>
              </a:solidFill>
            </a:endParaRPr>
          </a:p>
        </p:txBody>
      </p:sp>
      <p:sp>
        <p:nvSpPr>
          <p:cNvPr id="6" name="Rectangle 3"/>
          <p:cNvSpPr>
            <a:spLocks noGrp="1" noChangeArrowheads="1"/>
          </p:cNvSpPr>
          <p:nvPr>
            <p:ph idx="1"/>
          </p:nvPr>
        </p:nvSpPr>
        <p:spPr bwMode="auto">
          <a:xfrm>
            <a:off x="436653" y="1163288"/>
            <a:ext cx="827069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R="0" lvl="0" algn="l" defTabSz="914400" rtl="0" eaLnBrk="0" fontAlgn="base" latinLnBrk="0" hangingPunct="0">
              <a:lnSpc>
                <a:spcPct val="100000"/>
              </a:lnSpc>
              <a:spcBef>
                <a:spcPct val="0"/>
              </a:spcBef>
              <a:spcAft>
                <a:spcPct val="0"/>
              </a:spcAft>
              <a:buClrTx/>
              <a:buSzTx/>
            </a:pPr>
            <a:endParaRPr lang="en-US" altLang="en-US" sz="1800" dirty="0">
              <a:latin typeface="Arial" panose="020B0604020202090204" pitchFamily="34" charset="0"/>
            </a:endParaRPr>
          </a:p>
          <a:p>
            <a:pPr marR="0" lvl="0" algn="l" defTabSz="914400" rtl="0" eaLnBrk="0" fontAlgn="base" latinLnBrk="0" hangingPunct="0">
              <a:lnSpc>
                <a:spcPct val="100000"/>
              </a:lnSpc>
              <a:spcBef>
                <a:spcPct val="0"/>
              </a:spcBef>
              <a:spcAft>
                <a:spcPct val="0"/>
              </a:spcAft>
              <a:buClrTx/>
              <a:buSzTx/>
            </a:pPr>
            <a:endParaRPr kumimoji="0" lang="en-US" altLang="en-US" sz="1800" b="0" i="0" u="none" strike="noStrike" cap="none" normalizeH="0" baseline="0" dirty="0">
              <a:ln>
                <a:noFill/>
              </a:ln>
              <a:solidFill>
                <a:schemeClr val="tx1"/>
              </a:solidFill>
              <a:effectLst/>
              <a:latin typeface="Arial" panose="020B0604020202090204" pitchFamily="34" charset="0"/>
            </a:endParaRPr>
          </a:p>
          <a:p>
            <a:pPr marR="0" lvl="0" algn="l" defTabSz="914400" rtl="0" eaLnBrk="0" fontAlgn="base" latinLnBrk="0" hangingPunct="0">
              <a:lnSpc>
                <a:spcPct val="100000"/>
              </a:lnSpc>
              <a:spcBef>
                <a:spcPct val="0"/>
              </a:spcBef>
              <a:spcAft>
                <a:spcPct val="0"/>
              </a:spcAft>
              <a:buClrTx/>
              <a:buSzTx/>
            </a:pPr>
            <a:endParaRPr kumimoji="0" lang="en-US" altLang="en-US" sz="1800" b="0" i="0" u="none" strike="noStrike" cap="none" normalizeH="0" baseline="0" dirty="0">
              <a:ln>
                <a:noFill/>
              </a:ln>
              <a:solidFill>
                <a:schemeClr val="tx1"/>
              </a:solidFill>
              <a:effectLst/>
              <a:latin typeface="Arial" panose="020B0604020202090204" pitchFamily="34" charset="0"/>
            </a:endParaRPr>
          </a:p>
          <a:p>
            <a:pPr marR="0" lvl="0" algn="l" defTabSz="914400" rtl="0" eaLnBrk="0" fontAlgn="base" latinLnBrk="0" hangingPunct="0">
              <a:lnSpc>
                <a:spcPct val="100000"/>
              </a:lnSpc>
              <a:spcBef>
                <a:spcPct val="0"/>
              </a:spcBef>
              <a:spcAft>
                <a:spcPct val="0"/>
              </a:spcAft>
              <a:buClrTx/>
              <a:buSzTx/>
            </a:pPr>
            <a:endParaRPr kumimoji="0" lang="en-US" altLang="en-US" sz="1800" b="0" i="0" u="none" strike="noStrike" cap="none" normalizeH="0" baseline="0" dirty="0">
              <a:ln>
                <a:noFill/>
              </a:ln>
              <a:solidFill>
                <a:schemeClr val="tx1"/>
              </a:solidFill>
              <a:effectLst/>
              <a:latin typeface="Arial" panose="020B0604020202090204" pitchFamily="34" charset="0"/>
            </a:endParaRPr>
          </a:p>
        </p:txBody>
      </p:sp>
      <p:sp>
        <p:nvSpPr>
          <p:cNvPr id="3" name="TextBox 2"/>
          <p:cNvSpPr txBox="1"/>
          <p:nvPr/>
        </p:nvSpPr>
        <p:spPr>
          <a:xfrm>
            <a:off x="724623" y="1077951"/>
            <a:ext cx="7982724" cy="3753485"/>
          </a:xfrm>
          <a:prstGeom prst="rect">
            <a:avLst/>
          </a:prstGeom>
          <a:noFill/>
        </p:spPr>
        <p:txBody>
          <a:bodyPr wrap="square" rtlCol="0">
            <a:spAutoFit/>
          </a:bodyPr>
          <a:lstStyle/>
          <a:p>
            <a:pPr marL="285750" indent="-285750">
              <a:buFont typeface="Arial" panose="020B0604020202090204" pitchFamily="34" charset="0"/>
              <a:buChar char="•"/>
            </a:pPr>
            <a:r>
              <a:rPr lang="en-US" altLang="en-US" b="1" dirty="0">
                <a:latin typeface="Times New Roman" panose="02020503050405090304" charset="0"/>
                <a:cs typeface="Times New Roman" panose="02020503050405090304" charset="0"/>
              </a:rPr>
              <a:t>Multitasking vs. Focus:</a:t>
            </a:r>
          </a:p>
          <a:p>
            <a:pPr indent="0">
              <a:buFont typeface="Arial" panose="020B0604020202090204" pitchFamily="34" charset="0"/>
              <a:buNone/>
            </a:pPr>
            <a:r>
              <a:rPr lang="en-US" altLang="en-US" dirty="0">
                <a:latin typeface="Times New Roman" panose="02020503050405090304" charset="0"/>
                <a:cs typeface="Times New Roman" panose="02020503050405090304" charset="0"/>
              </a:rPr>
              <a:t>I’ve understood that while multitasking might seem productive, it often leads to reduced quality. Professionally, it’s better to allocate time and focus to one task at a time.</a:t>
            </a:r>
          </a:p>
          <a:p>
            <a:pPr marL="285750" indent="-285750">
              <a:buFont typeface="Arial" panose="020B0604020202090204" pitchFamily="34" charset="0"/>
              <a:buChar char="•"/>
            </a:pPr>
            <a:endParaRPr lang="en-US" altLang="en-US" dirty="0">
              <a:latin typeface="Times New Roman" panose="02020503050405090304" charset="0"/>
              <a:cs typeface="Times New Roman" panose="02020503050405090304" charset="0"/>
            </a:endParaRPr>
          </a:p>
          <a:p>
            <a:pPr marL="285750" indent="-285750">
              <a:buFont typeface="Arial" panose="020B0604020202090204" pitchFamily="34" charset="0"/>
              <a:buChar char="•"/>
            </a:pPr>
            <a:r>
              <a:rPr lang="en-US" altLang="en-US" b="1" dirty="0">
                <a:latin typeface="Times New Roman" panose="02020503050405090304" charset="0"/>
                <a:cs typeface="Times New Roman" panose="02020503050405090304" charset="0"/>
              </a:rPr>
              <a:t>Team Collaboration Needs Time Management:</a:t>
            </a:r>
          </a:p>
          <a:p>
            <a:pPr indent="0">
              <a:buFont typeface="Arial" panose="020B0604020202090204" pitchFamily="34" charset="0"/>
              <a:buNone/>
            </a:pPr>
            <a:r>
              <a:rPr lang="en-US" altLang="en-US" dirty="0">
                <a:latin typeface="Times New Roman" panose="02020503050405090304" charset="0"/>
                <a:cs typeface="Times New Roman" panose="02020503050405090304" charset="0"/>
              </a:rPr>
              <a:t>Being part of a club has shown me how mismanaged time can impact others. In a professional setting, poor time use doesn’t just affect me—it affects the entire team’s workflow.</a:t>
            </a:r>
          </a:p>
          <a:p>
            <a:pPr marL="285750" indent="-285750">
              <a:buFont typeface="Arial" panose="020B0604020202090204" pitchFamily="34" charset="0"/>
              <a:buChar char="•"/>
            </a:pPr>
            <a:endParaRPr lang="en-US" altLang="en-US" dirty="0">
              <a:latin typeface="Times New Roman" panose="02020503050405090304" charset="0"/>
              <a:cs typeface="Times New Roman" panose="02020503050405090304" charset="0"/>
            </a:endParaRPr>
          </a:p>
          <a:p>
            <a:pPr marL="285750" indent="-285750">
              <a:buFont typeface="Arial" panose="020B0604020202090204" pitchFamily="34" charset="0"/>
              <a:buChar char="•"/>
            </a:pPr>
            <a:r>
              <a:rPr lang="en-US" altLang="en-US" b="1" dirty="0">
                <a:latin typeface="Times New Roman" panose="02020503050405090304" charset="0"/>
                <a:cs typeface="Times New Roman" panose="02020503050405090304" charset="0"/>
              </a:rPr>
              <a:t>Work-Life Balance:</a:t>
            </a:r>
          </a:p>
          <a:p>
            <a:pPr indent="0">
              <a:buFont typeface="Arial" panose="020B0604020202090204" pitchFamily="34" charset="0"/>
              <a:buNone/>
            </a:pPr>
            <a:r>
              <a:rPr lang="en-US" altLang="en-US" dirty="0">
                <a:latin typeface="Times New Roman" panose="02020503050405090304" charset="0"/>
                <a:cs typeface="Times New Roman" panose="02020503050405090304" charset="0"/>
              </a:rPr>
              <a:t>I’ve learned that maintaining a healthy work-life balance is not something you find, but something you build through conscious time choices—something that will be critical in my future career.</a:t>
            </a:r>
          </a:p>
          <a:p>
            <a:pPr marL="285750" indent="-285750">
              <a:buFont typeface="Arial" panose="020B0604020202090204" pitchFamily="34" charset="0"/>
              <a:buChar char="•"/>
            </a:pPr>
            <a:endParaRPr lang="en-US" altLang="en-US" dirty="0">
              <a:latin typeface="Times New Roman" panose="02020503050405090304" charset="0"/>
              <a:cs typeface="Times New Roman" panose="02020503050405090304" charset="0"/>
            </a:endParaRPr>
          </a:p>
          <a:p>
            <a:pPr marL="285750" indent="-285750">
              <a:buFont typeface="Arial" panose="020B0604020202090204" pitchFamily="34" charset="0"/>
              <a:buChar char="•"/>
            </a:pPr>
            <a:r>
              <a:rPr lang="en-US" altLang="en-US" b="1" dirty="0">
                <a:latin typeface="Times New Roman" panose="02020503050405090304" charset="0"/>
                <a:cs typeface="Times New Roman" panose="02020503050405090304" charset="0"/>
              </a:rPr>
              <a:t>Adaptability &amp; Planning for the Unexpected:</a:t>
            </a:r>
          </a:p>
          <a:p>
            <a:pPr indent="0">
              <a:buFont typeface="Arial" panose="020B0604020202090204" pitchFamily="34" charset="0"/>
              <a:buNone/>
            </a:pPr>
            <a:r>
              <a:rPr lang="en-US" altLang="en-US" dirty="0">
                <a:latin typeface="Times New Roman" panose="02020503050405090304" charset="0"/>
                <a:cs typeface="Times New Roman" panose="02020503050405090304" charset="0"/>
              </a:rPr>
              <a:t>Hostel life and tight academic schedules have taught me to be flexible and adjust when things don’t go as planned.</a:t>
            </a:r>
          </a:p>
          <a:p>
            <a:pPr marL="285750" indent="-285750">
              <a:buFont typeface="Arial" panose="020B0604020202090204" pitchFamily="34" charset="0"/>
              <a:buChar char="•"/>
            </a:pPr>
            <a:endParaRPr lang="en-US" altLang="en-US" dirty="0">
              <a:latin typeface="Times New Roman" panose="02020503050405090304" charset="0"/>
              <a:cs typeface="Times New Roman" panose="02020503050405090304" charset="0"/>
            </a:endParaRPr>
          </a:p>
          <a:p>
            <a:pPr marL="285750" indent="-285750">
              <a:buFont typeface="Arial" panose="020B0604020202090204" pitchFamily="34" charset="0"/>
              <a:buChar char="•"/>
            </a:pPr>
            <a:endParaRPr lang="en-US" altLang="en-US" dirty="0">
              <a:latin typeface="Times New Roman" panose="02020503050405090304" charset="0"/>
              <a:cs typeface="Times New Roman" panose="0202050305040509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0322" y="156116"/>
            <a:ext cx="7705028" cy="571887"/>
          </a:xfrm>
        </p:spPr>
        <p:txBody>
          <a:bodyPr>
            <a:normAutofit fontScale="90000"/>
          </a:bodyPr>
          <a:lstStyle/>
          <a:p>
            <a:pPr algn="ctr"/>
            <a:r>
              <a:rPr lang="en-US" sz="2780" b="1" dirty="0">
                <a:latin typeface="Times New Roman" panose="02020503050405090304" charset="0"/>
                <a:cs typeface="Times New Roman" panose="02020503050405090304" charset="0"/>
              </a:rPr>
              <a:t>Exercise 4: Time Management</a:t>
            </a:r>
            <a:br>
              <a:rPr lang="en-IN" sz="2780" b="1" dirty="0">
                <a:solidFill>
                  <a:srgbClr val="FF0000"/>
                </a:solidFill>
                <a:latin typeface="Times New Roman" panose="02020503050405090304" charset="0"/>
                <a:cs typeface="Times New Roman" panose="02020503050405090304" charset="0"/>
              </a:rPr>
            </a:br>
            <a:r>
              <a:rPr lang="en-US" sz="2780" b="1" dirty="0">
                <a:solidFill>
                  <a:srgbClr val="FF0000"/>
                </a:solidFill>
                <a:latin typeface="Times New Roman" panose="02020503050405090304" charset="0"/>
                <a:cs typeface="Times New Roman" panose="02020503050405090304" charset="0"/>
              </a:rPr>
              <a:t>    </a:t>
            </a:r>
          </a:p>
        </p:txBody>
      </p:sp>
      <p:sp>
        <p:nvSpPr>
          <p:cNvPr id="3" name="Content Placeholder 2"/>
          <p:cNvSpPr>
            <a:spLocks noGrp="1"/>
          </p:cNvSpPr>
          <p:nvPr>
            <p:ph idx="1"/>
          </p:nvPr>
        </p:nvSpPr>
        <p:spPr>
          <a:xfrm>
            <a:off x="628650" y="601345"/>
            <a:ext cx="8371205" cy="4222115"/>
          </a:xfrm>
        </p:spPr>
        <p:txBody>
          <a:bodyPr>
            <a:normAutofit fontScale="97500"/>
          </a:bodyPr>
          <a:lstStyle/>
          <a:p>
            <a:pPr marL="0" indent="0">
              <a:buFont typeface="+mj-lt"/>
              <a:buNone/>
            </a:pPr>
            <a:r>
              <a:rPr lang="en-US" altLang="en-US" sz="1600" b="1" u="sng" dirty="0">
                <a:solidFill>
                  <a:srgbClr val="FF0000"/>
                </a:solidFill>
                <a:latin typeface="Times New Roman" panose="02020503050405090304" charset="0"/>
                <a:cs typeface="Times New Roman" panose="02020503050405090304" charset="0"/>
              </a:rPr>
              <a:t>Personal Learnings:</a:t>
            </a:r>
          </a:p>
          <a:p>
            <a:r>
              <a:rPr lang="en-US" altLang="en-US" sz="1600" b="1" dirty="0">
                <a:latin typeface="Times New Roman" panose="02020503050405090304" charset="0"/>
                <a:cs typeface="Times New Roman" panose="02020503050405090304" charset="0"/>
              </a:rPr>
              <a:t>Increased Awareness of Priorities:</a:t>
            </a:r>
          </a:p>
          <a:p>
            <a:pPr marL="0" indent="0">
              <a:buFont typeface="+mj-lt"/>
              <a:buNone/>
            </a:pPr>
            <a:r>
              <a:rPr lang="en-US" altLang="en-US" sz="1600" dirty="0">
                <a:latin typeface="Times New Roman" panose="02020503050405090304" charset="0"/>
                <a:cs typeface="Times New Roman" panose="02020503050405090304" charset="0"/>
              </a:rPr>
              <a:t>It helped me identify what tasks are truly important versus what can wait. It encouraged me to start thinking in terms of daily and weekly goals instead of reacting to tasks as they come.</a:t>
            </a:r>
            <a:endParaRPr lang="en-US" altLang="en-US" sz="1600" b="1" u="sng" dirty="0">
              <a:solidFill>
                <a:srgbClr val="FF0000"/>
              </a:solidFill>
              <a:latin typeface="Times New Roman" panose="02020503050405090304" charset="0"/>
              <a:cs typeface="Times New Roman" panose="02020503050405090304" charset="0"/>
            </a:endParaRPr>
          </a:p>
          <a:p>
            <a:r>
              <a:rPr lang="en-US" altLang="en-US" sz="1600" b="1" dirty="0">
                <a:latin typeface="Times New Roman" panose="02020503050405090304" charset="0"/>
                <a:cs typeface="Times New Roman" panose="02020503050405090304" charset="0"/>
              </a:rPr>
              <a:t>Understanding My Habits:</a:t>
            </a:r>
          </a:p>
          <a:p>
            <a:pPr marL="0" indent="0">
              <a:buFont typeface="+mj-lt"/>
              <a:buNone/>
            </a:pPr>
            <a:r>
              <a:rPr lang="en-US" altLang="en-US" sz="1600" dirty="0">
                <a:latin typeface="Times New Roman" panose="02020503050405090304" charset="0"/>
                <a:cs typeface="Times New Roman" panose="02020503050405090304" charset="0"/>
              </a:rPr>
              <a:t>Reflecting on how I spend my week helped me become more aware of my routines—both productive and unproductive. I noticed which activities take up more time than they should and where I can make improvements.</a:t>
            </a:r>
          </a:p>
          <a:p>
            <a:r>
              <a:rPr lang="en-US" altLang="en-US" sz="1600" b="1" dirty="0">
                <a:latin typeface="Times New Roman" panose="02020503050405090304" charset="0"/>
                <a:cs typeface="Times New Roman" panose="02020503050405090304" charset="0"/>
              </a:rPr>
              <a:t>Self-Discipline:</a:t>
            </a:r>
          </a:p>
          <a:p>
            <a:pPr marL="0" indent="0">
              <a:buFont typeface="+mj-lt"/>
              <a:buNone/>
            </a:pPr>
            <a:r>
              <a:rPr lang="en-US" altLang="en-US" sz="1600" dirty="0">
                <a:latin typeface="Times New Roman" panose="02020503050405090304" charset="0"/>
                <a:cs typeface="Times New Roman" panose="02020503050405090304" charset="0"/>
              </a:rPr>
              <a:t>Writing this assignment reminded me how crucial self-discipline is, especially in a hostel setting where there’s no one constantly reminding me what to do. Managing chores, studies, and personal time requires inner motivation.</a:t>
            </a:r>
          </a:p>
          <a:p>
            <a:r>
              <a:rPr lang="en-US" altLang="en-US" sz="1600" b="1" dirty="0">
                <a:latin typeface="Times New Roman" panose="02020503050405090304" charset="0"/>
                <a:cs typeface="Times New Roman" panose="02020503050405090304" charset="0"/>
              </a:rPr>
              <a:t>Better Emotional Management:</a:t>
            </a:r>
          </a:p>
          <a:p>
            <a:pPr marL="0" indent="0">
              <a:buFont typeface="+mj-lt"/>
              <a:buNone/>
            </a:pPr>
            <a:r>
              <a:rPr lang="en-US" altLang="en-US" sz="1600" dirty="0">
                <a:latin typeface="Times New Roman" panose="02020503050405090304" charset="0"/>
                <a:cs typeface="Times New Roman" panose="02020503050405090304" charset="0"/>
              </a:rPr>
              <a:t>By reflecting on how I spend my time and understanding how to better manage it, I also learned to reduce stress and anxiety. Planning my time makes me feel more in control.</a:t>
            </a:r>
          </a:p>
          <a:p>
            <a:pPr marL="0" indent="0">
              <a:buFont typeface="+mj-lt"/>
              <a:buNone/>
            </a:pPr>
            <a:endParaRPr lang="en-US" altLang="en-US" sz="1600" dirty="0">
              <a:latin typeface="Times New Roman" panose="02020503050405090304" charset="0"/>
              <a:cs typeface="Times New Roman" panose="02020503050405090304" charset="0"/>
            </a:endParaRPr>
          </a:p>
          <a:p>
            <a:pPr marL="0" indent="0">
              <a:buNone/>
            </a:pPr>
            <a:endParaRPr lang="en-US" altLang="en-US" sz="1600" dirty="0">
              <a:latin typeface="Times New Roman" panose="02020503050405090304" charset="0"/>
              <a:cs typeface="Times New Roman" panose="02020503050405090304" charset="0"/>
            </a:endParaRP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3" name="Slide Number Placeholder 4"/>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4</a:t>
            </a:fld>
            <a:endParaRPr lang="en-IN" sz="1200" b="1" dirty="0">
              <a:solidFill>
                <a:schemeClr val="tx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0"/>
            <a:ext cx="7886700" cy="728004"/>
          </a:xfrm>
        </p:spPr>
        <p:txBody>
          <a:bodyPr>
            <a:normAutofit/>
          </a:bodyPr>
          <a:lstStyle/>
          <a:p>
            <a:pPr algn="ctr"/>
            <a:r>
              <a:rPr lang="en-US" sz="2500" b="1" dirty="0">
                <a:solidFill>
                  <a:srgbClr val="FF0000"/>
                </a:solidFill>
                <a:latin typeface="Times New Roman" panose="02020503050405090304" charset="0"/>
                <a:cs typeface="Times New Roman" panose="02020503050405090304" charset="0"/>
                <a:sym typeface="+mn-ea"/>
              </a:rPr>
              <a:t>Exercise 5: Group Discussion</a:t>
            </a:r>
            <a:endParaRPr lang="en-IN" sz="2500" b="1" dirty="0">
              <a:solidFill>
                <a:srgbClr val="FF0000"/>
              </a:solidFill>
            </a:endParaRPr>
          </a:p>
        </p:txBody>
      </p:sp>
      <p:sp>
        <p:nvSpPr>
          <p:cNvPr id="3" name="Content Placeholder 2"/>
          <p:cNvSpPr>
            <a:spLocks noGrp="1"/>
          </p:cNvSpPr>
          <p:nvPr>
            <p:ph idx="1"/>
          </p:nvPr>
        </p:nvSpPr>
        <p:spPr>
          <a:xfrm>
            <a:off x="628650" y="601345"/>
            <a:ext cx="8515985" cy="4280535"/>
          </a:xfrm>
        </p:spPr>
        <p:txBody>
          <a:bodyPr>
            <a:noAutofit/>
          </a:bodyPr>
          <a:lstStyle/>
          <a:p>
            <a:pPr>
              <a:buNone/>
            </a:pPr>
            <a:r>
              <a:rPr lang="en-US" altLang="en-US" sz="1800" b="1" u="sng" dirty="0">
                <a:solidFill>
                  <a:srgbClr val="FF0000"/>
                </a:solidFill>
                <a:latin typeface="Times New Roman" panose="02020503050405090304" charset="0"/>
                <a:cs typeface="Times New Roman" panose="02020503050405090304" charset="0"/>
              </a:rPr>
              <a:t>Professional Learnings:</a:t>
            </a:r>
          </a:p>
          <a:p>
            <a:pPr>
              <a:buNone/>
            </a:pPr>
            <a:endParaRPr lang="en-US" altLang="en-US" sz="1600" b="1" dirty="0">
              <a:latin typeface="Times New Roman" panose="02020503050405090304" charset="0"/>
              <a:cs typeface="Times New Roman" panose="02020503050405090304" charset="0"/>
            </a:endParaRPr>
          </a:p>
          <a:p>
            <a:r>
              <a:rPr lang="en-US" altLang="en-US" sz="1400" b="1" dirty="0">
                <a:latin typeface="Times New Roman" panose="02020503050405090304" charset="0"/>
                <a:cs typeface="Times New Roman" panose="02020503050405090304" charset="0"/>
              </a:rPr>
              <a:t>Soft skills are critical in the workplace</a:t>
            </a:r>
          </a:p>
          <a:p>
            <a:pPr>
              <a:buNone/>
            </a:pPr>
            <a:r>
              <a:rPr lang="en-US" altLang="en-US" sz="1400" dirty="0">
                <a:latin typeface="Times New Roman" panose="02020503050405090304" charset="0"/>
                <a:cs typeface="Times New Roman" panose="02020503050405090304" charset="0"/>
              </a:rPr>
              <a:t>In professional settings, it’s not just what you know but how you present it. GDs simulate real-life scenarios like meetings, brainstorming sessions, and interviews.</a:t>
            </a:r>
          </a:p>
          <a:p>
            <a:pPr>
              <a:buNone/>
            </a:pPr>
            <a:endParaRPr lang="en-US" altLang="en-US" sz="1400" dirty="0">
              <a:latin typeface="Times New Roman" panose="02020503050405090304" charset="0"/>
              <a:cs typeface="Times New Roman" panose="02020503050405090304" charset="0"/>
            </a:endParaRPr>
          </a:p>
          <a:p>
            <a:r>
              <a:rPr lang="en-US" altLang="en-US" sz="1400" b="1" dirty="0">
                <a:latin typeface="Times New Roman" panose="02020503050405090304" charset="0"/>
                <a:cs typeface="Times New Roman" panose="02020503050405090304" charset="0"/>
              </a:rPr>
              <a:t>Clarity and conciseness are valued</a:t>
            </a:r>
          </a:p>
          <a:p>
            <a:pPr>
              <a:buNone/>
            </a:pPr>
            <a:r>
              <a:rPr lang="en-US" altLang="en-US" sz="1400" dirty="0">
                <a:latin typeface="Times New Roman" panose="02020503050405090304" charset="0"/>
                <a:cs typeface="Times New Roman" panose="02020503050405090304" charset="0"/>
              </a:rPr>
              <a:t>The best speakers made their point in fewer words but with more impact.</a:t>
            </a:r>
          </a:p>
          <a:p>
            <a:pPr>
              <a:buNone/>
            </a:pPr>
            <a:endParaRPr lang="en-US" altLang="en-US" sz="1400" dirty="0">
              <a:latin typeface="Times New Roman" panose="02020503050405090304" charset="0"/>
              <a:cs typeface="Times New Roman" panose="02020503050405090304" charset="0"/>
            </a:endParaRPr>
          </a:p>
          <a:p>
            <a:r>
              <a:rPr lang="en-US" altLang="en-US" sz="1400" b="1" dirty="0">
                <a:latin typeface="Times New Roman" panose="02020503050405090304" charset="0"/>
                <a:cs typeface="Times New Roman" panose="02020503050405090304" charset="0"/>
              </a:rPr>
              <a:t>Team collaboration enhances outcomes</a:t>
            </a:r>
          </a:p>
          <a:p>
            <a:pPr>
              <a:buNone/>
            </a:pPr>
            <a:r>
              <a:rPr lang="en-US" altLang="en-US" sz="1400" dirty="0">
                <a:latin typeface="Times New Roman" panose="02020503050405090304" charset="0"/>
                <a:cs typeface="Times New Roman" panose="02020503050405090304" charset="0"/>
              </a:rPr>
              <a:t>GDs reflect the workplace where projects require collective input. Learning to agree, disagree, and build consensus is a key professional skill.</a:t>
            </a:r>
          </a:p>
          <a:p>
            <a:pPr>
              <a:buNone/>
            </a:pPr>
            <a:endParaRPr lang="en-US" altLang="en-US" sz="1400" dirty="0">
              <a:latin typeface="Times New Roman" panose="02020503050405090304" charset="0"/>
              <a:cs typeface="Times New Roman" panose="02020503050405090304" charset="0"/>
            </a:endParaRPr>
          </a:p>
          <a:p>
            <a:r>
              <a:rPr lang="en-US" altLang="en-US" sz="1400" b="1" dirty="0">
                <a:latin typeface="Times New Roman" panose="02020503050405090304" charset="0"/>
                <a:cs typeface="Times New Roman" panose="02020503050405090304" charset="0"/>
              </a:rPr>
              <a:t>Leadership isn't about dominance</a:t>
            </a:r>
          </a:p>
          <a:p>
            <a:pPr>
              <a:buNone/>
            </a:pPr>
            <a:r>
              <a:rPr lang="en-US" altLang="en-US" sz="1400" dirty="0">
                <a:latin typeface="Times New Roman" panose="02020503050405090304" charset="0"/>
                <a:cs typeface="Times New Roman" panose="02020503050405090304" charset="0"/>
              </a:rPr>
              <a:t>Real leaders in the GD encouraged others, summarized key points, and kept the group focused—showing that leadership is not about control.</a:t>
            </a:r>
          </a:p>
          <a:p>
            <a:pPr>
              <a:buNone/>
            </a:pPr>
            <a:endParaRPr lang="en-US" altLang="en-US" sz="1400" dirty="0">
              <a:latin typeface="Times New Roman" panose="02020503050405090304" charset="0"/>
              <a:cs typeface="Times New Roman" panose="02020503050405090304" charset="0"/>
            </a:endParaRP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3" name="Slide Number Placeholder 4"/>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5</a:t>
            </a:fld>
            <a:endParaRPr lang="en-IN" sz="1200" b="1" dirty="0">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0"/>
            <a:ext cx="7886700" cy="728004"/>
          </a:xfrm>
        </p:spPr>
        <p:txBody>
          <a:bodyPr>
            <a:normAutofit/>
          </a:bodyPr>
          <a:lstStyle/>
          <a:p>
            <a:pPr algn="ctr"/>
            <a:r>
              <a:rPr lang="en-US" sz="2500" b="1" dirty="0">
                <a:latin typeface="Times New Roman" panose="02020503050405090304" charset="0"/>
                <a:cs typeface="Times New Roman" panose="02020503050405090304" charset="0"/>
                <a:sym typeface="+mn-ea"/>
              </a:rPr>
              <a:t>Exercise 5: Group Discussion</a:t>
            </a:r>
            <a:endParaRPr lang="en-IN" sz="2500" b="1"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3" name="Slide Number Placeholder 4"/>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6</a:t>
            </a:fld>
            <a:endParaRPr lang="en-IN" sz="1200" b="1" dirty="0">
              <a:solidFill>
                <a:schemeClr val="tx1"/>
              </a:solidFill>
            </a:endParaRPr>
          </a:p>
        </p:txBody>
      </p:sp>
      <p:sp>
        <p:nvSpPr>
          <p:cNvPr id="4" name="Rectangle 1"/>
          <p:cNvSpPr>
            <a:spLocks noGrp="1" noChangeArrowheads="1"/>
          </p:cNvSpPr>
          <p:nvPr>
            <p:ph idx="1"/>
          </p:nvPr>
        </p:nvSpPr>
        <p:spPr bwMode="auto">
          <a:xfrm>
            <a:off x="464820" y="1071880"/>
            <a:ext cx="8050530" cy="3678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400" b="0" i="0" u="none" strike="noStrike" cap="none" normalizeH="0" baseline="0" dirty="0">
              <a:ln>
                <a:noFill/>
              </a:ln>
              <a:solidFill>
                <a:schemeClr val="tx1"/>
              </a:solidFill>
              <a:effectLst/>
              <a:latin typeface="Times New Roman" panose="02020503050405090304" charset="0"/>
              <a:cs typeface="Times New Roman" panose="02020503050405090304" charset="0"/>
            </a:endParaRPr>
          </a:p>
          <a:p>
            <a:pPr marL="0" marR="0" lvl="0" indent="0" algn="l" defTabSz="914400" rtl="0" eaLnBrk="0" fontAlgn="base" latinLnBrk="0" hangingPunct="0">
              <a:lnSpc>
                <a:spcPct val="100000"/>
              </a:lnSpc>
              <a:spcBef>
                <a:spcPct val="0"/>
              </a:spcBef>
              <a:spcAft>
                <a:spcPct val="0"/>
              </a:spcAft>
              <a:buClrTx/>
              <a:buSzTx/>
              <a:buFontTx/>
              <a:buChar char="•"/>
            </a:pPr>
            <a:r>
              <a:rPr lang="en-US" altLang="en-US" sz="1400" b="1" dirty="0">
                <a:latin typeface="Times New Roman" panose="02020503050405090304" charset="0"/>
                <a:cs typeface="Times New Roman" panose="02020503050405090304" charset="0"/>
                <a:sym typeface="+mn-ea"/>
              </a:rPr>
              <a:t>Team dynamics matter</a:t>
            </a:r>
            <a:endParaRPr lang="en-US" altLang="en-US" sz="1400" b="1" dirty="0">
              <a:latin typeface="Times New Roman" panose="02020503050405090304" charset="0"/>
              <a:cs typeface="Times New Roman" panose="02020503050405090304" charset="0"/>
            </a:endParaRPr>
          </a:p>
          <a:p>
            <a:pPr marL="0" indent="0">
              <a:buNone/>
            </a:pPr>
            <a:r>
              <a:rPr lang="en-US" altLang="en-US" sz="1400" dirty="0">
                <a:latin typeface="Times New Roman" panose="02020503050405090304" charset="0"/>
                <a:cs typeface="Times New Roman" panose="02020503050405090304" charset="0"/>
                <a:sym typeface="+mn-ea"/>
              </a:rPr>
              <a:t>A GD isn’t about proving a point alone; it’s about moving the discussion forward as a team. The most effective discussions happened when people collaborated, not competed.</a:t>
            </a:r>
            <a:endParaRPr lang="en-US" altLang="en-US" sz="1400" dirty="0">
              <a:latin typeface="Times New Roman" panose="02020503050405090304" charset="0"/>
              <a:cs typeface="Times New Roman" panose="02020503050405090304" charset="0"/>
            </a:endParaRPr>
          </a:p>
          <a:p>
            <a:pPr>
              <a:buNone/>
            </a:pPr>
            <a:endParaRPr lang="en-US" altLang="en-US" sz="1400" dirty="0">
              <a:latin typeface="Times New Roman" panose="02020503050405090304" charset="0"/>
              <a:cs typeface="Times New Roman" panose="0202050305040509030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400" b="1" i="0" u="none" strike="noStrike" cap="none" normalizeH="0" baseline="0" dirty="0">
                <a:ln>
                  <a:noFill/>
                </a:ln>
                <a:solidFill>
                  <a:schemeClr val="tx1"/>
                </a:solidFill>
                <a:effectLst/>
                <a:latin typeface="Times New Roman" panose="02020503050405090304" charset="0"/>
                <a:cs typeface="Times New Roman" panose="02020503050405090304" charset="0"/>
              </a:rPr>
              <a:t>Constructive disagreement is healthy</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400" b="0" i="0" u="none" strike="noStrike" cap="none" normalizeH="0" baseline="0" dirty="0">
                <a:ln>
                  <a:noFill/>
                </a:ln>
                <a:solidFill>
                  <a:schemeClr val="tx1"/>
                </a:solidFill>
                <a:effectLst/>
                <a:latin typeface="Times New Roman" panose="02020503050405090304" charset="0"/>
                <a:cs typeface="Times New Roman" panose="02020503050405090304" charset="0"/>
              </a:rPr>
              <a:t>I saw how some participants disagreed respectfully and still moved the conversation forward. This is a valuable skill in resolving workplace conflicts or giving feedback.</a:t>
            </a: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400" b="0" i="0" u="none" strike="noStrike" cap="none" normalizeH="0" baseline="0" dirty="0">
              <a:ln>
                <a:noFill/>
              </a:ln>
              <a:solidFill>
                <a:schemeClr val="tx1"/>
              </a:solidFill>
              <a:effectLst/>
              <a:latin typeface="Times New Roman" panose="02020503050405090304" charset="0"/>
              <a:cs typeface="Times New Roman" panose="0202050305040509030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400" b="1" i="0" u="none" strike="noStrike" cap="none" normalizeH="0" baseline="0" dirty="0">
                <a:ln>
                  <a:noFill/>
                </a:ln>
                <a:solidFill>
                  <a:schemeClr val="tx1"/>
                </a:solidFill>
                <a:effectLst/>
                <a:latin typeface="Times New Roman" panose="02020503050405090304" charset="0"/>
                <a:cs typeface="Times New Roman" panose="02020503050405090304" charset="0"/>
              </a:rPr>
              <a:t>Time management in communication</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400" b="0" i="0" u="none" strike="noStrike" cap="none" normalizeH="0" baseline="0" dirty="0">
                <a:ln>
                  <a:noFill/>
                </a:ln>
                <a:solidFill>
                  <a:schemeClr val="tx1"/>
                </a:solidFill>
                <a:effectLst/>
                <a:latin typeface="Times New Roman" panose="02020503050405090304" charset="0"/>
                <a:cs typeface="Times New Roman" panose="02020503050405090304" charset="0"/>
              </a:rPr>
              <a:t>With limited time, every speaker had to be mindful of not taking too long while still making their points.</a:t>
            </a: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400" b="0" i="0" u="none" strike="noStrike" cap="none" normalizeH="0" baseline="0" dirty="0">
              <a:ln>
                <a:noFill/>
              </a:ln>
              <a:solidFill>
                <a:schemeClr val="tx1"/>
              </a:solidFill>
              <a:effectLst/>
              <a:latin typeface="Times New Roman" panose="02020503050405090304" charset="0"/>
              <a:cs typeface="Times New Roman" panose="0202050305040509030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400" b="1" i="0" u="none" strike="noStrike" cap="none" normalizeH="0" baseline="0" dirty="0">
                <a:ln>
                  <a:noFill/>
                </a:ln>
                <a:solidFill>
                  <a:schemeClr val="tx1"/>
                </a:solidFill>
                <a:effectLst/>
                <a:latin typeface="Times New Roman" panose="02020503050405090304" charset="0"/>
                <a:cs typeface="Times New Roman" panose="02020503050405090304" charset="0"/>
              </a:rPr>
              <a:t>Real-time thinking under pressure</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400" b="0" i="0" u="none" strike="noStrike" cap="none" normalizeH="0" baseline="0" dirty="0">
                <a:ln>
                  <a:noFill/>
                </a:ln>
                <a:solidFill>
                  <a:schemeClr val="tx1"/>
                </a:solidFill>
                <a:effectLst/>
                <a:latin typeface="Times New Roman" panose="02020503050405090304" charset="0"/>
                <a:cs typeface="Times New Roman" panose="02020503050405090304" charset="0"/>
              </a:rPr>
              <a:t>GDs teach you to think, adapt, and speak without long preparation—a professional reality in interviews, discussions, or client calls where responses need to be immediate and thoughtful.</a:t>
            </a: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400" b="0" i="0" u="none" strike="noStrike" cap="none" normalizeH="0" baseline="0" dirty="0">
              <a:ln>
                <a:noFill/>
              </a:ln>
              <a:solidFill>
                <a:schemeClr val="tx1"/>
              </a:solidFill>
              <a:effectLst/>
              <a:latin typeface="Times New Roman" panose="02020503050405090304" charset="0"/>
              <a:cs typeface="Times New Roman" panose="0202050305040509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0"/>
            <a:ext cx="7886700" cy="728004"/>
          </a:xfrm>
        </p:spPr>
        <p:txBody>
          <a:bodyPr>
            <a:normAutofit/>
          </a:bodyPr>
          <a:lstStyle/>
          <a:p>
            <a:pPr algn="ctr"/>
            <a:r>
              <a:rPr lang="en-US" sz="2500" b="1" dirty="0">
                <a:latin typeface="Times New Roman" panose="02020503050405090304" charset="0"/>
                <a:cs typeface="Times New Roman" panose="02020503050405090304" charset="0"/>
              </a:rPr>
              <a:t>Exercise 5: Group Discussion</a:t>
            </a:r>
          </a:p>
        </p:txBody>
      </p:sp>
      <p:sp>
        <p:nvSpPr>
          <p:cNvPr id="3" name="Content Placeholder 2"/>
          <p:cNvSpPr>
            <a:spLocks noGrp="1"/>
          </p:cNvSpPr>
          <p:nvPr>
            <p:ph idx="1"/>
          </p:nvPr>
        </p:nvSpPr>
        <p:spPr>
          <a:xfrm>
            <a:off x="628650" y="728345"/>
            <a:ext cx="8470900" cy="4541520"/>
          </a:xfrm>
        </p:spPr>
        <p:txBody>
          <a:bodyPr>
            <a:noAutofit/>
          </a:bodyPr>
          <a:lstStyle/>
          <a:p>
            <a:pPr marL="0" indent="0">
              <a:buNone/>
            </a:pPr>
            <a:r>
              <a:rPr lang="en-US" altLang="en-US" sz="1800" b="1" u="sng" dirty="0">
                <a:solidFill>
                  <a:srgbClr val="FF0000"/>
                </a:solidFill>
                <a:latin typeface="Times New Roman" panose="02020503050405090304" charset="0"/>
                <a:cs typeface="Times New Roman" panose="02020503050405090304" charset="0"/>
              </a:rPr>
              <a:t>Personal Learnings:</a:t>
            </a:r>
          </a:p>
          <a:p>
            <a:endParaRPr lang="en-US" altLang="en-US" sz="1300" dirty="0">
              <a:latin typeface="Times New Roman" panose="02020503050405090304" charset="0"/>
              <a:cs typeface="Times New Roman" panose="02020503050405090304" charset="0"/>
            </a:endParaRPr>
          </a:p>
          <a:p>
            <a:r>
              <a:rPr lang="en-US" altLang="en-US" sz="1400" b="1" dirty="0">
                <a:latin typeface="Times New Roman" panose="02020503050405090304" charset="0"/>
                <a:cs typeface="Times New Roman" panose="02020503050405090304" charset="0"/>
              </a:rPr>
              <a:t>Confidence is built through participation</a:t>
            </a:r>
          </a:p>
          <a:p>
            <a:pPr marL="0" indent="0">
              <a:buNone/>
            </a:pPr>
            <a:r>
              <a:rPr lang="en-US" altLang="en-US" sz="1400" dirty="0">
                <a:latin typeface="Times New Roman" panose="02020503050405090304" charset="0"/>
                <a:cs typeface="Times New Roman" panose="02020503050405090304" charset="0"/>
              </a:rPr>
              <a:t>Speaking in a GD, even briefly, helps reduce the fear of public speaking. I realized that the more we participate, the more confident we become over time.</a:t>
            </a:r>
          </a:p>
          <a:p>
            <a:r>
              <a:rPr lang="en-US" altLang="en-US" sz="1400" b="1" dirty="0">
                <a:latin typeface="Times New Roman" panose="02020503050405090304" charset="0"/>
                <a:cs typeface="Times New Roman" panose="02020503050405090304" charset="0"/>
              </a:rPr>
              <a:t>Listening is as powerful as speaking</a:t>
            </a:r>
          </a:p>
          <a:p>
            <a:pPr marL="0" indent="0">
              <a:buNone/>
            </a:pPr>
            <a:r>
              <a:rPr lang="en-US" altLang="en-US" sz="1400" dirty="0">
                <a:latin typeface="Times New Roman" panose="02020503050405090304" charset="0"/>
                <a:cs typeface="Times New Roman" panose="02020503050405090304" charset="0"/>
              </a:rPr>
              <a:t>Watching participants listen attentively and respond meaningfully taught me that listening is a key communication skill.</a:t>
            </a:r>
          </a:p>
          <a:p>
            <a:r>
              <a:rPr lang="en-US" altLang="en-US" sz="1400" b="1" dirty="0">
                <a:latin typeface="Times New Roman" panose="02020503050405090304" charset="0"/>
                <a:cs typeface="Times New Roman" panose="02020503050405090304" charset="0"/>
              </a:rPr>
              <a:t>Everyone has a unique communication style</a:t>
            </a:r>
          </a:p>
          <a:p>
            <a:pPr marL="0" indent="0">
              <a:buNone/>
            </a:pPr>
            <a:r>
              <a:rPr lang="en-US" altLang="en-US" sz="1400" dirty="0">
                <a:latin typeface="Times New Roman" panose="02020503050405090304" charset="0"/>
                <a:cs typeface="Times New Roman" panose="02020503050405090304" charset="0"/>
              </a:rPr>
              <a:t>Some people are assertive, others more analytical or thoughtful. GDs helped me appreciate that there's no single right way to speak—clarity, respect, and relevance matter more.</a:t>
            </a:r>
          </a:p>
          <a:p>
            <a:r>
              <a:rPr lang="en-US" altLang="en-US" sz="1400" b="1" dirty="0">
                <a:latin typeface="Times New Roman" panose="02020503050405090304" charset="0"/>
                <a:cs typeface="Times New Roman" panose="02020503050405090304" charset="0"/>
              </a:rPr>
              <a:t>Structured thinking improves expression</a:t>
            </a:r>
          </a:p>
          <a:p>
            <a:pPr marL="0" indent="0">
              <a:buNone/>
            </a:pPr>
            <a:r>
              <a:rPr lang="en-US" altLang="en-US" sz="1400" dirty="0">
                <a:latin typeface="Times New Roman" panose="02020503050405090304" charset="0"/>
                <a:cs typeface="Times New Roman" panose="02020503050405090304" charset="0"/>
              </a:rPr>
              <a:t>Participants who used clear points and examples stood out. I learned that preparing thoughts mentally before speaking makes communication more impactful.</a:t>
            </a:r>
          </a:p>
          <a:p>
            <a:endParaRPr lang="en-US" altLang="en-US" sz="1300" dirty="0">
              <a:latin typeface="Times New Roman" panose="02020503050405090304" charset="0"/>
              <a:cs typeface="Times New Roman" panose="02020503050405090304" charset="0"/>
            </a:endParaRPr>
          </a:p>
          <a:p>
            <a:endParaRPr lang="en-US" altLang="en-US" sz="600" dirty="0">
              <a:latin typeface="Times New Roman" panose="02020503050405090304" charset="0"/>
              <a:cs typeface="Times New Roman" panose="02020503050405090304" charset="0"/>
            </a:endParaRP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3" name="Slide Number Placeholder 4"/>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7</a:t>
            </a:fld>
            <a:endParaRPr lang="en-IN" sz="1200" b="1" dirty="0">
              <a:solidFill>
                <a:schemeClr val="tx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0"/>
            <a:ext cx="7886700" cy="728004"/>
          </a:xfrm>
        </p:spPr>
        <p:txBody>
          <a:bodyPr>
            <a:normAutofit/>
          </a:bodyPr>
          <a:lstStyle/>
          <a:p>
            <a:pPr algn="ctr"/>
            <a:r>
              <a:rPr lang="en-US" sz="2500" b="1" dirty="0">
                <a:solidFill>
                  <a:srgbClr val="FF0000"/>
                </a:solidFill>
                <a:latin typeface="Times New Roman" panose="02020503050405090304" charset="0"/>
                <a:cs typeface="Times New Roman" panose="02020503050405090304" charset="0"/>
              </a:rPr>
              <a:t>Exercise 6: Resume Writing </a:t>
            </a:r>
          </a:p>
        </p:txBody>
      </p:sp>
      <p:sp>
        <p:nvSpPr>
          <p:cNvPr id="3" name="Content Placeholder 2"/>
          <p:cNvSpPr>
            <a:spLocks noGrp="1"/>
          </p:cNvSpPr>
          <p:nvPr>
            <p:ph idx="1"/>
          </p:nvPr>
        </p:nvSpPr>
        <p:spPr>
          <a:xfrm>
            <a:off x="628650" y="819150"/>
            <a:ext cx="8435340" cy="3731260"/>
          </a:xfrm>
        </p:spPr>
        <p:txBody>
          <a:bodyPr>
            <a:normAutofit/>
          </a:bodyPr>
          <a:lstStyle/>
          <a:p>
            <a:pPr marL="0" indent="0" algn="just">
              <a:buNone/>
            </a:pPr>
            <a:r>
              <a:rPr lang="en-US" altLang="en-US" sz="1800" b="1" u="sng" dirty="0">
                <a:solidFill>
                  <a:srgbClr val="FF0000"/>
                </a:solidFill>
                <a:latin typeface="Times New Roman" panose="02020503050405090304" charset="0"/>
                <a:cs typeface="Times New Roman" panose="02020503050405090304" charset="0"/>
              </a:rPr>
              <a:t>Personal Learnings:</a:t>
            </a:r>
          </a:p>
          <a:p>
            <a:pPr marL="0" indent="0" algn="just">
              <a:buNone/>
            </a:pPr>
            <a:endParaRPr lang="en-US" altLang="en-US" sz="1600" b="1" dirty="0">
              <a:latin typeface="Times New Roman" panose="02020503050405090304" charset="0"/>
              <a:cs typeface="Times New Roman" panose="02020503050405090304" charset="0"/>
            </a:endParaRPr>
          </a:p>
          <a:p>
            <a:pPr algn="just"/>
            <a:r>
              <a:rPr lang="en-US" altLang="en-US" sz="1400" b="1" dirty="0">
                <a:latin typeface="Times New Roman" panose="02020503050405090304" charset="0"/>
                <a:cs typeface="Times New Roman" panose="02020503050405090304" charset="0"/>
              </a:rPr>
              <a:t>Self-Awareness:</a:t>
            </a:r>
          </a:p>
          <a:p>
            <a:pPr marL="0" indent="0" algn="just">
              <a:buNone/>
            </a:pPr>
            <a:r>
              <a:rPr lang="en-US" altLang="en-US" sz="1400" dirty="0">
                <a:latin typeface="Times New Roman" panose="02020503050405090304" charset="0"/>
                <a:cs typeface="Times New Roman" panose="02020503050405090304" charset="0"/>
              </a:rPr>
              <a:t>While preparing my resume, I had to reflect on my own journey - my education, skills, strengths, and even areas where I can improve. This helped me understand myself better.</a:t>
            </a:r>
          </a:p>
          <a:p>
            <a:pPr marL="0" indent="0" algn="just">
              <a:buNone/>
            </a:pPr>
            <a:endParaRPr lang="en-US" altLang="en-US" sz="1400" dirty="0">
              <a:latin typeface="Times New Roman" panose="02020503050405090304" charset="0"/>
              <a:cs typeface="Times New Roman" panose="02020503050405090304" charset="0"/>
            </a:endParaRPr>
          </a:p>
          <a:p>
            <a:pPr algn="just"/>
            <a:r>
              <a:rPr lang="en-US" altLang="en-US" sz="1400" b="1" dirty="0">
                <a:latin typeface="Times New Roman" panose="02020503050405090304" charset="0"/>
                <a:cs typeface="Times New Roman" panose="02020503050405090304" charset="0"/>
              </a:rPr>
              <a:t>Confidence Building:</a:t>
            </a:r>
          </a:p>
          <a:p>
            <a:pPr marL="0" indent="0" algn="just">
              <a:buNone/>
            </a:pPr>
            <a:r>
              <a:rPr lang="en-US" altLang="en-US" sz="1400" dirty="0">
                <a:latin typeface="Times New Roman" panose="02020503050405090304" charset="0"/>
                <a:cs typeface="Times New Roman" panose="02020503050405090304" charset="0"/>
              </a:rPr>
              <a:t>Writing about my achievements, projects, and qualities made me realize that I have grown over the years. It gave me a sense of pride and boosted my confidence.</a:t>
            </a:r>
          </a:p>
          <a:p>
            <a:pPr marL="0" indent="0" algn="just">
              <a:buNone/>
            </a:pPr>
            <a:endParaRPr lang="en-US" altLang="en-US" sz="1400" dirty="0">
              <a:latin typeface="Times New Roman" panose="02020503050405090304" charset="0"/>
              <a:cs typeface="Times New Roman" panose="02020503050405090304" charset="0"/>
            </a:endParaRPr>
          </a:p>
          <a:p>
            <a:pPr algn="just"/>
            <a:r>
              <a:rPr lang="en-US" altLang="en-US" sz="1400" b="1" dirty="0">
                <a:latin typeface="Times New Roman" panose="02020503050405090304" charset="0"/>
                <a:cs typeface="Times New Roman" panose="02020503050405090304" charset="0"/>
              </a:rPr>
              <a:t>Organizing My Thoughts:</a:t>
            </a:r>
          </a:p>
          <a:p>
            <a:pPr marL="0" indent="0" algn="just">
              <a:buNone/>
            </a:pPr>
            <a:r>
              <a:rPr lang="en-US" altLang="en-US" sz="1400" dirty="0">
                <a:latin typeface="Times New Roman" panose="02020503050405090304" charset="0"/>
                <a:cs typeface="Times New Roman" panose="02020503050405090304" charset="0"/>
              </a:rPr>
              <a:t>I learned how to organize my thoughts clearly and present them in a neat, structured way. This skill is useful not just for resumes but for many aspects of life.</a:t>
            </a:r>
          </a:p>
          <a:p>
            <a:pPr marL="0" indent="0" algn="just">
              <a:buNone/>
            </a:pPr>
            <a:endParaRPr lang="en-US" altLang="en-US" sz="1400" dirty="0">
              <a:latin typeface="Times New Roman" panose="02020503050405090304" charset="0"/>
              <a:cs typeface="Times New Roman" panose="02020503050405090304" charset="0"/>
            </a:endParaRPr>
          </a:p>
          <a:p>
            <a:pPr marL="0" indent="0" algn="just">
              <a:buNone/>
            </a:pPr>
            <a:endParaRPr lang="en-US" altLang="en-US" sz="1400" dirty="0">
              <a:latin typeface="Times New Roman" panose="02020503050405090304" charset="0"/>
              <a:cs typeface="Times New Roman" panose="02020503050405090304" charset="0"/>
            </a:endParaRPr>
          </a:p>
          <a:p>
            <a:pPr marL="0" indent="0" algn="just">
              <a:buNone/>
            </a:pPr>
            <a:endParaRPr lang="en-US" altLang="en-US" sz="1400" dirty="0">
              <a:latin typeface="Times New Roman" panose="02020503050405090304" charset="0"/>
              <a:cs typeface="Times New Roman" panose="02020503050405090304" charset="0"/>
            </a:endParaRPr>
          </a:p>
          <a:p>
            <a:pPr marL="0" indent="0" algn="just">
              <a:buNone/>
            </a:pPr>
            <a:endParaRPr lang="en-US" altLang="en-US" sz="1400" dirty="0">
              <a:latin typeface="Times New Roman" panose="02020503050405090304" charset="0"/>
              <a:cs typeface="Times New Roman" panose="02020503050405090304" charset="0"/>
            </a:endParaRP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3" name="Slide Number Placeholder 4"/>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8</a:t>
            </a:fld>
            <a:endParaRPr lang="en-IN" sz="1200" b="1" dirty="0">
              <a:solidFill>
                <a:schemeClr val="tx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0"/>
            <a:ext cx="7886700" cy="728004"/>
          </a:xfrm>
        </p:spPr>
        <p:txBody>
          <a:bodyPr>
            <a:normAutofit/>
          </a:bodyPr>
          <a:lstStyle/>
          <a:p>
            <a:pPr algn="ctr"/>
            <a:r>
              <a:rPr lang="en-US" sz="2500" b="1" dirty="0">
                <a:latin typeface="Times New Roman" panose="02020503050405090304" charset="0"/>
                <a:cs typeface="Times New Roman" panose="02020503050405090304" charset="0"/>
                <a:sym typeface="+mn-ea"/>
              </a:rPr>
              <a:t>Exercise 6: Resume Writing </a:t>
            </a:r>
            <a:endParaRPr lang="en-IN" sz="2500" b="1"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3" name="Slide Number Placeholder 4"/>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9</a:t>
            </a:fld>
            <a:endParaRPr lang="en-IN" sz="1200" b="1" dirty="0">
              <a:solidFill>
                <a:schemeClr val="tx1"/>
              </a:solidFill>
            </a:endParaRPr>
          </a:p>
        </p:txBody>
      </p:sp>
      <p:sp>
        <p:nvSpPr>
          <p:cNvPr id="3" name="Rectangle 1"/>
          <p:cNvSpPr>
            <a:spLocks noGrp="1" noChangeArrowheads="1"/>
          </p:cNvSpPr>
          <p:nvPr>
            <p:ph idx="1"/>
          </p:nvPr>
        </p:nvSpPr>
        <p:spPr bwMode="auto">
          <a:xfrm>
            <a:off x="165735" y="922655"/>
            <a:ext cx="8813165" cy="341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sz="1400" b="1" i="0" u="none" strike="noStrike" cap="none" normalizeH="0" baseline="0" dirty="0">
                <a:ln>
                  <a:noFill/>
                </a:ln>
                <a:solidFill>
                  <a:schemeClr val="tx1"/>
                </a:solidFill>
                <a:effectLst/>
                <a:latin typeface="Times New Roman" panose="02020503050405090304" charset="0"/>
                <a:cs typeface="Times New Roman" panose="02020503050405090304" charset="0"/>
              </a:rPr>
              <a:t>Creativity &amp; Presentation:</a:t>
            </a:r>
          </a:p>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sz="1400" b="0" i="0" u="none" strike="noStrike" cap="none" normalizeH="0" baseline="0" dirty="0">
                <a:ln>
                  <a:noFill/>
                </a:ln>
                <a:solidFill>
                  <a:schemeClr val="tx1"/>
                </a:solidFill>
                <a:effectLst/>
                <a:latin typeface="Times New Roman" panose="02020503050405090304" charset="0"/>
                <a:cs typeface="Times New Roman" panose="02020503050405090304" charset="0"/>
              </a:rPr>
              <a:t>I learned that even a simple document like a resume can be presented creatively and professionally at the same time.</a:t>
            </a:r>
          </a:p>
          <a:p>
            <a:pPr marL="0" marR="0" lvl="0" indent="0" algn="just" defTabSz="914400" rtl="0" eaLnBrk="0" fontAlgn="base" latinLnBrk="0" hangingPunct="0">
              <a:lnSpc>
                <a:spcPct val="100000"/>
              </a:lnSpc>
              <a:spcBef>
                <a:spcPct val="0"/>
              </a:spcBef>
              <a:spcAft>
                <a:spcPct val="0"/>
              </a:spcAft>
              <a:buClrTx/>
              <a:buSzTx/>
              <a:buFontTx/>
              <a:buChar char="•"/>
            </a:pPr>
            <a:endParaRPr kumimoji="0" lang="en-US" altLang="en-US" sz="1400" b="0" i="0" u="none" strike="noStrike" cap="none" normalizeH="0" baseline="0" dirty="0">
              <a:ln>
                <a:noFill/>
              </a:ln>
              <a:solidFill>
                <a:schemeClr val="tx1"/>
              </a:solidFill>
              <a:effectLst/>
              <a:latin typeface="Times New Roman" panose="02020503050405090304" charset="0"/>
              <a:cs typeface="Times New Roman" panose="0202050305040509030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sz="1800" b="1" i="0" u="sng" strike="noStrike" cap="none" normalizeH="0" baseline="0" dirty="0">
                <a:ln>
                  <a:noFill/>
                </a:ln>
                <a:solidFill>
                  <a:srgbClr val="FF0000"/>
                </a:solidFill>
                <a:effectLst/>
                <a:latin typeface="Times New Roman" panose="02020503050405090304" charset="0"/>
                <a:cs typeface="Times New Roman" panose="02020503050405090304" charset="0"/>
              </a:rPr>
              <a:t>Professional Learnings:</a:t>
            </a:r>
          </a:p>
          <a:p>
            <a:pPr marL="0" marR="0" lvl="0" indent="0" algn="just" defTabSz="914400" rtl="0" eaLnBrk="0" fontAlgn="base" latinLnBrk="0" hangingPunct="0">
              <a:lnSpc>
                <a:spcPct val="100000"/>
              </a:lnSpc>
              <a:spcBef>
                <a:spcPct val="0"/>
              </a:spcBef>
              <a:spcAft>
                <a:spcPct val="0"/>
              </a:spcAft>
              <a:buClrTx/>
              <a:buSzTx/>
              <a:buFontTx/>
              <a:buNone/>
            </a:pPr>
            <a:endParaRPr kumimoji="0" lang="en-US" altLang="en-US" sz="1400" b="0" i="0" u="none" strike="noStrike" cap="none" normalizeH="0" baseline="0" dirty="0">
              <a:ln>
                <a:noFill/>
              </a:ln>
              <a:solidFill>
                <a:schemeClr val="tx1"/>
              </a:solidFill>
              <a:effectLst/>
              <a:latin typeface="Times New Roman" panose="02020503050405090304" charset="0"/>
              <a:cs typeface="Times New Roman" panose="02020503050405090304" charset="0"/>
            </a:endParaRPr>
          </a:p>
          <a:p>
            <a:pPr marR="0" lvl="0" algn="just" defTabSz="914400" rtl="0" eaLnBrk="0" fontAlgn="base" latinLnBrk="0" hangingPunct="0">
              <a:lnSpc>
                <a:spcPct val="100000"/>
              </a:lnSpc>
              <a:spcBef>
                <a:spcPct val="0"/>
              </a:spcBef>
              <a:spcAft>
                <a:spcPct val="0"/>
              </a:spcAft>
              <a:buClrTx/>
              <a:buSzTx/>
            </a:pPr>
            <a:r>
              <a:rPr kumimoji="0" lang="en-US" altLang="en-US" sz="1400" b="1" i="0" u="none" strike="noStrike" cap="none" normalizeH="0" baseline="0" dirty="0">
                <a:ln>
                  <a:noFill/>
                </a:ln>
                <a:solidFill>
                  <a:schemeClr val="tx1"/>
                </a:solidFill>
                <a:effectLst/>
                <a:latin typeface="Times New Roman" panose="02020503050405090304" charset="0"/>
                <a:cs typeface="Times New Roman" panose="02020503050405090304" charset="0"/>
              </a:rPr>
              <a:t>Professional Communication:</a:t>
            </a:r>
          </a:p>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sz="1400" b="0" i="0" u="none" strike="noStrike" cap="none" normalizeH="0" baseline="0" dirty="0">
                <a:ln>
                  <a:noFill/>
                </a:ln>
                <a:solidFill>
                  <a:schemeClr val="tx1"/>
                </a:solidFill>
                <a:effectLst/>
                <a:latin typeface="Times New Roman" panose="02020503050405090304" charset="0"/>
                <a:cs typeface="Times New Roman" panose="02020503050405090304" charset="0"/>
              </a:rPr>
              <a:t>I learned how to express my abilities and achievements in a formal and professional tone, which is very different from casual writing.</a:t>
            </a:r>
          </a:p>
          <a:p>
            <a:pPr marL="0" marR="0" lvl="0" indent="0" algn="just" defTabSz="914400" rtl="0" eaLnBrk="0" fontAlgn="base" latinLnBrk="0" hangingPunct="0">
              <a:lnSpc>
                <a:spcPct val="100000"/>
              </a:lnSpc>
              <a:spcBef>
                <a:spcPct val="0"/>
              </a:spcBef>
              <a:spcAft>
                <a:spcPct val="0"/>
              </a:spcAft>
              <a:buClrTx/>
              <a:buSzTx/>
              <a:buFontTx/>
              <a:buChar char="•"/>
            </a:pPr>
            <a:endParaRPr kumimoji="0" lang="en-US" altLang="en-US" sz="1400" b="0" i="0" u="none" strike="noStrike" cap="none" normalizeH="0" baseline="0" dirty="0">
              <a:ln>
                <a:noFill/>
              </a:ln>
              <a:solidFill>
                <a:schemeClr val="tx1"/>
              </a:solidFill>
              <a:effectLst/>
              <a:latin typeface="Times New Roman" panose="02020503050405090304" charset="0"/>
              <a:cs typeface="Times New Roman" panose="02020503050405090304" charset="0"/>
            </a:endParaRPr>
          </a:p>
          <a:p>
            <a:pPr algn="just"/>
            <a:r>
              <a:rPr lang="en-US" altLang="en-US" sz="1400" b="1" dirty="0">
                <a:latin typeface="Times New Roman" panose="02020503050405090304" charset="0"/>
                <a:cs typeface="Times New Roman" panose="02020503050405090304" charset="0"/>
                <a:sym typeface="+mn-ea"/>
              </a:rPr>
              <a:t>Time Management:</a:t>
            </a:r>
            <a:endParaRPr lang="en-US" altLang="en-US" sz="1400" b="1" dirty="0">
              <a:latin typeface="Times New Roman" panose="02020503050405090304" charset="0"/>
              <a:cs typeface="Times New Roman" panose="02020503050405090304" charset="0"/>
            </a:endParaRPr>
          </a:p>
          <a:p>
            <a:pPr marL="0" indent="0" algn="just">
              <a:buNone/>
            </a:pPr>
            <a:r>
              <a:rPr lang="en-US" altLang="en-US" sz="1400" dirty="0">
                <a:latin typeface="Times New Roman" panose="02020503050405090304" charset="0"/>
                <a:cs typeface="Times New Roman" panose="02020503050405090304" charset="0"/>
                <a:sym typeface="+mn-ea"/>
              </a:rPr>
              <a:t>This assignment taught me how to manage my time better by dividing the task into small parts: listing down all </a:t>
            </a:r>
          </a:p>
          <a:p>
            <a:pPr marL="0" indent="0" algn="just">
              <a:buNone/>
            </a:pPr>
            <a:r>
              <a:rPr lang="en-US" altLang="en-US" sz="1400" dirty="0">
                <a:latin typeface="Times New Roman" panose="02020503050405090304" charset="0"/>
                <a:cs typeface="Times New Roman" panose="02020503050405090304" charset="0"/>
                <a:sym typeface="+mn-ea"/>
              </a:rPr>
              <a:t>points, designing, and making the final copy.</a:t>
            </a:r>
            <a:endParaRPr kumimoji="0" lang="en-US" altLang="en-US" sz="1400" b="0" i="0" u="none" strike="noStrike" cap="none" normalizeH="0" baseline="0" dirty="0">
              <a:ln>
                <a:noFill/>
              </a:ln>
              <a:solidFill>
                <a:schemeClr val="tx1"/>
              </a:solidFill>
              <a:effectLst/>
              <a:latin typeface="Times New Roman" panose="02020503050405090304" charset="0"/>
              <a:cs typeface="Times New Roman" panose="0202050305040509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0"/>
            <a:ext cx="7886700" cy="728004"/>
          </a:xfrm>
        </p:spPr>
        <p:txBody>
          <a:bodyPr>
            <a:normAutofit/>
          </a:bodyPr>
          <a:lstStyle/>
          <a:p>
            <a:pPr algn="ctr"/>
            <a:r>
              <a:rPr lang="en-US" sz="2500" b="1" dirty="0">
                <a:latin typeface="Times New Roman" panose="02020503050405090304" charset="0"/>
                <a:cs typeface="Times New Roman" panose="02020503050405090304" charset="0"/>
                <a:sym typeface="+mn-ea"/>
              </a:rPr>
              <a:t>Exercise 6: Resume Writing </a:t>
            </a:r>
            <a:endParaRPr lang="en-IN" sz="2500" b="1" dirty="0"/>
          </a:p>
        </p:txBody>
      </p:sp>
      <p:sp>
        <p:nvSpPr>
          <p:cNvPr id="3" name="Content Placeholder 2"/>
          <p:cNvSpPr>
            <a:spLocks noGrp="1"/>
          </p:cNvSpPr>
          <p:nvPr>
            <p:ph idx="1"/>
          </p:nvPr>
        </p:nvSpPr>
        <p:spPr>
          <a:xfrm>
            <a:off x="628650" y="1152525"/>
            <a:ext cx="7886700" cy="3305175"/>
          </a:xfrm>
        </p:spPr>
        <p:txBody>
          <a:bodyPr>
            <a:normAutofit/>
          </a:bodyPr>
          <a:lstStyle/>
          <a:p>
            <a:r>
              <a:rPr lang="en-US" altLang="en-US" sz="1400" b="1" dirty="0">
                <a:latin typeface="Times New Roman" panose="02020503050405090304" charset="0"/>
                <a:cs typeface="Times New Roman" panose="02020503050405090304" charset="0"/>
              </a:rPr>
              <a:t>Relevance Over Quantity:</a:t>
            </a:r>
          </a:p>
          <a:p>
            <a:pPr>
              <a:buNone/>
            </a:pPr>
            <a:r>
              <a:rPr lang="en-US" altLang="en-US" sz="1400" dirty="0">
                <a:latin typeface="Times New Roman" panose="02020503050405090304" charset="0"/>
                <a:cs typeface="Times New Roman" panose="02020503050405090304" charset="0"/>
              </a:rPr>
              <a:t>I discovered that it’s not about having a long resume, but about making sure that everything I include is relevant and meaningful to the job or internship I am applying for.</a:t>
            </a:r>
          </a:p>
          <a:p>
            <a:pPr>
              <a:buNone/>
            </a:pPr>
            <a:endParaRPr lang="en-US" altLang="en-US" sz="1400" dirty="0">
              <a:latin typeface="Times New Roman" panose="02020503050405090304" charset="0"/>
              <a:cs typeface="Times New Roman" panose="02020503050405090304" charset="0"/>
            </a:endParaRPr>
          </a:p>
          <a:p>
            <a:r>
              <a:rPr lang="en-US" altLang="en-US" sz="1400" b="1" dirty="0">
                <a:latin typeface="Times New Roman" panose="02020503050405090304" charset="0"/>
                <a:cs typeface="Times New Roman" panose="02020503050405090304" charset="0"/>
              </a:rPr>
              <a:t>Matching Resume to Job Profile:</a:t>
            </a:r>
          </a:p>
          <a:p>
            <a:pPr>
              <a:buNone/>
            </a:pPr>
            <a:r>
              <a:rPr lang="en-US" altLang="en-US" sz="1400" dirty="0">
                <a:latin typeface="Times New Roman" panose="02020503050405090304" charset="0"/>
                <a:cs typeface="Times New Roman" panose="02020503050405090304" charset="0"/>
              </a:rPr>
              <a:t>This task helped me understand how to align my resume content with what a company is looking for. This will help me customize my resume for future roles.</a:t>
            </a:r>
          </a:p>
          <a:p>
            <a:pPr>
              <a:buNone/>
            </a:pPr>
            <a:endParaRPr lang="en-US" altLang="en-US" sz="1400" dirty="0">
              <a:latin typeface="Times New Roman" panose="02020503050405090304" charset="0"/>
              <a:cs typeface="Times New Roman" panose="02020503050405090304" charset="0"/>
            </a:endParaRPr>
          </a:p>
          <a:p>
            <a:r>
              <a:rPr lang="en-US" altLang="en-US" sz="1400" b="1" dirty="0">
                <a:latin typeface="Times New Roman" panose="02020503050405090304" charset="0"/>
                <a:cs typeface="Times New Roman" panose="02020503050405090304" charset="0"/>
              </a:rPr>
              <a:t>Professional Writing Skills:</a:t>
            </a:r>
          </a:p>
          <a:p>
            <a:pPr>
              <a:buNone/>
            </a:pPr>
            <a:r>
              <a:rPr lang="en-US" altLang="en-US" sz="1400" dirty="0">
                <a:latin typeface="Times New Roman" panose="02020503050405090304" charset="0"/>
                <a:cs typeface="Times New Roman" panose="02020503050405090304" charset="0"/>
              </a:rPr>
              <a:t>Writing points with strong words and being direct are some resume-writing techniques that I can also apply in emails and reports.</a:t>
            </a:r>
          </a:p>
          <a:p>
            <a:pPr>
              <a:buNone/>
            </a:pPr>
            <a:endParaRPr lang="en-US" altLang="en-US" sz="1400" dirty="0">
              <a:latin typeface="Times New Roman" panose="02020503050405090304" charset="0"/>
              <a:cs typeface="Times New Roman" panose="02020503050405090304" charset="0"/>
            </a:endParaRP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3" name="Slide Number Placeholder 4"/>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10</a:t>
            </a:fld>
            <a:endParaRPr lang="en-IN" sz="1200" b="1" dirty="0">
              <a:solidFill>
                <a:schemeClr val="tx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82051" y="21103"/>
            <a:ext cx="7886700" cy="728004"/>
          </a:xfrm>
        </p:spPr>
        <p:txBody>
          <a:bodyPr>
            <a:normAutofit/>
          </a:bodyPr>
          <a:lstStyle/>
          <a:p>
            <a:pPr algn="ctr"/>
            <a:r>
              <a:rPr lang="en-IN" sz="2700" b="1" dirty="0"/>
              <a:t>   </a:t>
            </a:r>
          </a:p>
        </p:txBody>
      </p:sp>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1" name="Slide Number Placeholder 4"/>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11</a:t>
            </a:fld>
            <a:endParaRPr lang="en-IN" sz="1200" b="1" dirty="0">
              <a:solidFill>
                <a:schemeClr val="tx1"/>
              </a:solidFill>
            </a:endParaRPr>
          </a:p>
        </p:txBody>
      </p:sp>
      <p:pic>
        <p:nvPicPr>
          <p:cNvPr id="5" name="Picture 4"/>
          <p:cNvPicPr/>
          <p:nvPr/>
        </p:nvPicPr>
        <p:blipFill>
          <a:blip r:embed="rId5"/>
          <a:stretch>
            <a:fillRect/>
          </a:stretch>
        </p:blipFill>
        <p:spPr>
          <a:xfrm>
            <a:off x="-1957705" y="-57628155"/>
            <a:ext cx="99736275" cy="56107330"/>
          </a:xfrm>
          <a:prstGeom prst="rect">
            <a:avLst/>
          </a:prstGeom>
        </p:spPr>
      </p:pic>
      <p:pic>
        <p:nvPicPr>
          <p:cNvPr id="6" name="Picture 5"/>
          <p:cNvPicPr/>
          <p:nvPr/>
        </p:nvPicPr>
        <p:blipFill>
          <a:blip r:embed="rId6"/>
          <a:stretch>
            <a:fillRect/>
          </a:stretch>
        </p:blipFill>
        <p:spPr>
          <a:xfrm>
            <a:off x="-635" y="20320"/>
            <a:ext cx="9145270" cy="51358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TM10001115[[fn=Parcel]]</Template>
  <TotalTime>27</TotalTime>
  <Words>1220</Words>
  <Application>Microsoft Office PowerPoint</Application>
  <PresentationFormat>On-screen Show (16:9)</PresentationFormat>
  <Paragraphs>135</Paragraphs>
  <Slides>11</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Times New Roman</vt:lpstr>
      <vt:lpstr>Office Theme</vt:lpstr>
      <vt:lpstr>General Proficiency - 2 Course Code: HS1080  End Semester Review </vt:lpstr>
      <vt:lpstr>Exercise 4: Time management </vt:lpstr>
      <vt:lpstr>Exercise 4: Time management </vt:lpstr>
      <vt:lpstr>Exercise 4: Time Management     </vt:lpstr>
      <vt:lpstr>Exercise 5: Group Discussion</vt:lpstr>
      <vt:lpstr>Exercise 5: Group Discussion</vt:lpstr>
      <vt:lpstr>Exercise 5: Group Discussion</vt:lpstr>
      <vt:lpstr>Exercise 6: Resume Writing </vt:lpstr>
      <vt:lpstr>Exercise 6: Resume Writing </vt:lpstr>
      <vt:lpstr>Exercise 6: Resume Writing </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Ethics and Standard Practices for Engineers</dc:title>
  <dc:creator>Viit Viit</dc:creator>
  <cp:lastModifiedBy>ARYAN1 PAWAR</cp:lastModifiedBy>
  <cp:revision>259</cp:revision>
  <dcterms:created xsi:type="dcterms:W3CDTF">2025-06-02T05:02:22Z</dcterms:created>
  <dcterms:modified xsi:type="dcterms:W3CDTF">2025-06-02T12:59:45Z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6FAA426B23C14ED182C561DA248D92B9_13</vt:lpwstr>
  </property>
  <property fmtid="{D5CDD505-2E9C-101B-9397-08002B2CF9AE}" pid="3" name="KSOProductBuildVer">
    <vt:lpwstr>1033-6.14.0.8716</vt:lpwstr>
  </property>
</Properties>
</file>